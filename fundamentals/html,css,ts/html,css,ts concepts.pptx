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52500"/>
            <a:ext cx="381000" cy="381000"/>
          </a:xfrm>
          <a:prstGeom prst="ellipse">
            <a:avLst/>
          </a:prstGeom>
          <a:ln w="19050">
            <a:solidFill>
              <a:srgbClr val="05B3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95450" y="1009650"/>
            <a:ext cx="29337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FOUNDATIONS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965287" y="969615"/>
            <a:ext cx="3275104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 · Frontend Track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43000" y="3572768"/>
            <a:ext cx="16482060" cy="2817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400" b="1" spc="-399" kern="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HTML, CSS &amp; </a:t>
            </a:r>
            <a:pPr algn="l" indent="0" marL="0">
              <a:lnSpc>
                <a:spcPct val="96000"/>
              </a:lnSpc>
              <a:buNone/>
            </a:pPr>
            <a:r>
              <a:rPr lang="en-US" sz="11400" i="1" spc="-399" kern="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1400" dirty="0"/>
          </a:p>
        </p:txBody>
      </p:sp>
      <p:sp>
        <p:nvSpPr>
          <p:cNvPr id="6" name="Shape 4"/>
          <p:cNvSpPr/>
          <p:nvPr/>
        </p:nvSpPr>
        <p:spPr>
          <a:xfrm>
            <a:off x="1143000" y="8591550"/>
            <a:ext cx="16002000" cy="9525"/>
          </a:xfrm>
          <a:prstGeom prst="rect">
            <a:avLst/>
          </a:prstGeom>
          <a:solidFill>
            <a:srgbClr val="1F2832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8905875"/>
            <a:ext cx="510159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43000" y="9220200"/>
            <a:ext cx="51015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new to the web stack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667500" y="8905875"/>
            <a:ext cx="510159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67500" y="9220200"/>
            <a:ext cx="51015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overview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192000" y="8905875"/>
            <a:ext cx="510159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2192000" y="9220200"/>
            <a:ext cx="51015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each layer &amp; how they fit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97148"/>
            <a:ext cx="341996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pPr algn="l" indent="0" marL="0">
              <a:buNone/>
            </a:pPr>
            <a:r>
              <a:rPr lang="en-US" sz="1650" spc="297" kern="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MENTAL MODEL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6016288" y="952500"/>
            <a:ext cx="1204913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1527721"/>
            <a:ext cx="1648206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108" kern="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layers,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108" kern="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page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143000" y="2743051"/>
            <a:ext cx="1373505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 page is the same idea told three ways. Each language owns one job.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43000" y="3739307"/>
            <a:ext cx="5130701" cy="5785693"/>
          </a:xfrm>
          <a:prstGeom prst="roundRect">
            <a:avLst>
              <a:gd name="adj" fmla="val 2970"/>
            </a:avLst>
          </a:prstGeom>
          <a:solidFill>
            <a:srgbClr val="05B3A4">
              <a:alpha val="8000"/>
            </a:srgbClr>
          </a:solidFill>
          <a:ln w="9525">
            <a:solidFill>
              <a:srgbClr val="05B3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5425" y="4091732"/>
            <a:ext cx="455862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95425" y="4510832"/>
            <a:ext cx="455862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</a:t>
            </a:r>
            <a:pPr algn="l" indent="0" marL="0">
              <a:buNone/>
            </a:pPr>
            <a:r>
              <a:rPr lang="en-US" sz="16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.html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95425" y="5063282"/>
            <a:ext cx="4558626" cy="4147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on the page. Headings, paragraphs, lists, images, forms — the meaning, in markup.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578501" y="3739307"/>
            <a:ext cx="5130850" cy="5785693"/>
          </a:xfrm>
          <a:prstGeom prst="roundRect">
            <a:avLst>
              <a:gd name="adj" fmla="val 2970"/>
            </a:avLst>
          </a:prstGeom>
          <a:solidFill>
            <a:srgbClr val="11161D"/>
          </a:solidFill>
          <a:ln w="9525">
            <a:solidFill>
              <a:srgbClr val="1F28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30926" y="4091732"/>
            <a:ext cx="45587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930926" y="4510832"/>
            <a:ext cx="455878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</a:t>
            </a:r>
            <a:pPr algn="l" indent="0" marL="0">
              <a:buNone/>
            </a:pPr>
            <a:r>
              <a:rPr lang="en-US" sz="16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.css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930926" y="5063282"/>
            <a:ext cx="4558780" cy="4147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looks. Color, type, spacing, layout, motion — applied to the structure HTML provides.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2014150" y="3739307"/>
            <a:ext cx="5130850" cy="5785693"/>
          </a:xfrm>
          <a:prstGeom prst="roundRect">
            <a:avLst>
              <a:gd name="adj" fmla="val 2970"/>
            </a:avLst>
          </a:prstGeom>
          <a:solidFill>
            <a:srgbClr val="11161D"/>
          </a:solidFill>
          <a:ln w="9525">
            <a:solidFill>
              <a:srgbClr val="1F28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66575" y="4091732"/>
            <a:ext cx="45587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2366575" y="4510832"/>
            <a:ext cx="455878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 / TS </a:t>
            </a:r>
            <a:pPr algn="l" indent="0" marL="0">
              <a:buNone/>
            </a:pPr>
            <a:r>
              <a:rPr lang="en-US" sz="16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.js .ts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366575" y="5063282"/>
            <a:ext cx="4558780" cy="4147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does. Interaction, state, network calls — turns a document into an application.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143000" y="9767888"/>
            <a:ext cx="95250" cy="95250"/>
          </a:xfrm>
          <a:prstGeom prst="ellipse">
            <a:avLst/>
          </a:prstGeom>
          <a:solidFill>
            <a:srgbClr val="05B3A4"/>
          </a:solidFill>
          <a:ln/>
          <a:effectLst>
            <a:outerShdw sx="100000" sy="100000" kx="0" ky="0" algn="bl" rotWithShape="0" blurRad="133350" dist="50800" dir="16200000">
              <a:srgbClr val="05B3A4">
                <a:alpha val="10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371600" y="9705975"/>
            <a:ext cx="23894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HTML, CSS &amp; TypeScript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917739" y="9705975"/>
            <a:ext cx="30346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287838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pPr algn="l" indent="0" marL="0">
              <a:buNone/>
            </a:pPr>
            <a:r>
              <a:rPr lang="en-US" sz="1650" spc="297" kern="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STRUCTURE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38275"/>
            <a:ext cx="1648206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108" kern="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108" kern="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HTML?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691705"/>
            <a:ext cx="8423821" cy="3116312"/>
          </a:xfrm>
          <a:prstGeom prst="roundRect">
            <a:avLst>
              <a:gd name="adj" fmla="val 5502"/>
            </a:avLst>
          </a:prstGeom>
          <a:solidFill>
            <a:srgbClr val="11161D"/>
          </a:solidFill>
          <a:ln w="9525">
            <a:solidFill>
              <a:srgbClr val="1F28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7825" y="3158430"/>
            <a:ext cx="763659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i="1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HyperText Markup Language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647825" y="4015680"/>
            <a:ext cx="7636596" cy="1363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markup language for describing the structure and meaning of a document. You wrap content in 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&lt;tags&gt; 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tell the browser what each piece </a:t>
            </a:r>
            <a:pPr algn="l" indent="0" marL="0">
              <a:lnSpc>
                <a:spcPct val="145000"/>
              </a:lnSpc>
              <a:buNone/>
            </a:pPr>
            <a:r>
              <a:rPr lang="en-US" sz="2400" i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6150918"/>
            <a:ext cx="8676535" cy="1363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heading is a heading. A list is a list. A button is a button. The browser, screen readers, and search engines all rely on those labels.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252621" y="3763863"/>
            <a:ext cx="709915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page: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0252621" y="4281934"/>
            <a:ext cx="6892379" cy="4170759"/>
          </a:xfrm>
          <a:prstGeom prst="roundRect">
            <a:avLst>
              <a:gd name="adj" fmla="val 2741"/>
            </a:avLst>
          </a:prstGeom>
          <a:solidFill>
            <a:srgbClr val="0A0D12"/>
          </a:solidFill>
          <a:ln w="9525">
            <a:solidFill>
              <a:srgbClr val="1F28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5046" y="4596259"/>
            <a:ext cx="6394301" cy="3580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&lt;!doctype html&gt;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&lt;html&gt;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&lt;head&gt;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&lt;title&gt;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Hello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&lt;/title&gt;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&lt;/head&gt;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&lt;body&gt;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&lt;h1&gt;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Welcome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&lt;/h1&gt;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&lt;p&gt;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 short page.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&lt;/p&gt;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&lt;/body&gt; &lt;/html&gt;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43000" y="9767888"/>
            <a:ext cx="95250" cy="95250"/>
          </a:xfrm>
          <a:prstGeom prst="ellipse">
            <a:avLst/>
          </a:prstGeom>
          <a:solidFill>
            <a:srgbClr val="05B3A4"/>
          </a:solidFill>
          <a:ln/>
          <a:effectLst>
            <a:outerShdw sx="100000" sy="100000" kx="0" ky="0" algn="bl" rotWithShape="0" blurRad="133350" dist="50800" dir="16200000">
              <a:srgbClr val="05B3A4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0" y="9705975"/>
            <a:ext cx="23894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HTML, CSS &amp; TypeScript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917739" y="9705975"/>
            <a:ext cx="30346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372026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pPr algn="l" indent="0" marL="0">
              <a:buNone/>
            </a:pPr>
            <a:r>
              <a:rPr lang="en-US" sz="1650" spc="297" kern="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HTML BECOMES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38275"/>
            <a:ext cx="1648206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108" kern="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108" kern="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2653605"/>
            <a:ext cx="13735050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browser parses your HTML into a tree of nodes. CSS styles it. JavaScript edits it.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485900" y="5512296"/>
            <a:ext cx="7534656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of nodes.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485900" y="5923657"/>
            <a:ext cx="753465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tag becomes an element node; text becomes a text node.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85900" y="6453188"/>
            <a:ext cx="7534656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Live, not static.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485900" y="6864548"/>
            <a:ext cx="753465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the tree at runtime and the page updates instantly.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85900" y="7394079"/>
            <a:ext cx="7534656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shared interface.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485900" y="7805440"/>
            <a:ext cx="753465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reads it to apply styles. JS reads &amp; writes it to add behavior.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486900" y="4112716"/>
            <a:ext cx="7658100" cy="5412284"/>
          </a:xfrm>
          <a:prstGeom prst="roundRect">
            <a:avLst>
              <a:gd name="adj" fmla="val 2464"/>
            </a:avLst>
          </a:prstGeom>
          <a:solidFill>
            <a:srgbClr val="11161D"/>
          </a:solidFill>
          <a:ln w="9525">
            <a:solidFill>
              <a:srgbClr val="1F28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581209" y="4864447"/>
            <a:ext cx="508099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543109" y="5367338"/>
            <a:ext cx="381000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019359" y="5367338"/>
            <a:ext cx="571946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981259" y="5870228"/>
            <a:ext cx="381000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457509" y="5870228"/>
            <a:ext cx="788045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981259" y="6373118"/>
            <a:ext cx="381000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419409" y="6373118"/>
            <a:ext cx="381000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95659" y="6373118"/>
            <a:ext cx="330547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480256" y="6373118"/>
            <a:ext cx="1340197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"Welcome"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981259" y="6876008"/>
            <a:ext cx="381000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457509" y="6876008"/>
            <a:ext cx="571798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981259" y="7378898"/>
            <a:ext cx="381000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419409" y="7378898"/>
            <a:ext cx="381000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895659" y="7378898"/>
            <a:ext cx="203448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353157" y="7378898"/>
            <a:ext cx="1773585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short page."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981259" y="7881789"/>
            <a:ext cx="381000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419409" y="7881789"/>
            <a:ext cx="381000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895659" y="7881789"/>
            <a:ext cx="711845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861554" y="7881789"/>
            <a:ext cx="597247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"OK"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981259" y="8384679"/>
            <a:ext cx="381000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457509" y="8384679"/>
            <a:ext cx="660797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footer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143000" y="9767888"/>
            <a:ext cx="95250" cy="95250"/>
          </a:xfrm>
          <a:prstGeom prst="ellipse">
            <a:avLst/>
          </a:prstGeom>
          <a:solidFill>
            <a:srgbClr val="05B3A4"/>
          </a:solidFill>
          <a:ln/>
          <a:effectLst>
            <a:outerShdw sx="100000" sy="100000" kx="0" ky="0" algn="bl" rotWithShape="0" blurRad="133350" dist="50800" dir="16200000">
              <a:srgbClr val="05B3A4">
                <a:alpha val="10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371600" y="9705975"/>
            <a:ext cx="23894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HTML, CSS &amp; TypeScript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6917739" y="9705975"/>
            <a:ext cx="30346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337091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pPr algn="l" indent="0" marL="0">
              <a:buNone/>
            </a:pPr>
            <a:r>
              <a:rPr lang="en-US" sz="1650" spc="297" kern="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PRESENTATION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38275"/>
            <a:ext cx="1648206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108" kern="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108" kern="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CSS?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2691705"/>
            <a:ext cx="7658100" cy="3558183"/>
          </a:xfrm>
          <a:prstGeom prst="roundRect">
            <a:avLst>
              <a:gd name="adj" fmla="val 4818"/>
            </a:avLst>
          </a:prstGeom>
          <a:solidFill>
            <a:srgbClr val="11161D"/>
          </a:solidFill>
          <a:ln w="9525">
            <a:solidFill>
              <a:srgbClr val="1F28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7825" y="3158430"/>
            <a:ext cx="684790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i="1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Cascading Style Sheets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647825" y="4015680"/>
            <a:ext cx="6847903" cy="1805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language for telling the browser how the DOM should look . You write rules — selector + declarations — and the browser applies them.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6592788"/>
            <a:ext cx="7887843" cy="1363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Cascading 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means many rules can target the same element; conflicts resolve by specificity, source order, and origin.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486900" y="3874294"/>
            <a:ext cx="7887843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rule: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486900" y="4392364"/>
            <a:ext cx="7658100" cy="3108127"/>
          </a:xfrm>
          <a:prstGeom prst="roundRect">
            <a:avLst>
              <a:gd name="adj" fmla="val 3677"/>
            </a:avLst>
          </a:prstGeom>
          <a:solidFill>
            <a:srgbClr val="0A0D12"/>
          </a:solidFill>
          <a:ln w="9525">
            <a:solidFill>
              <a:srgbClr val="1F28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39325" y="4706689"/>
            <a:ext cx="7182993" cy="251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/* selector */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.card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D99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7AB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#11161d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lang="en-US" sz="18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endParaRPr lang="en-US" sz="18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7AB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border-radius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F5B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px;</a:t>
            </a:r>
            <a:endParaRPr lang="en-US" sz="18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endParaRPr lang="en-US" sz="18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7AB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padding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F5B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px;</a:t>
            </a:r>
            <a:endParaRPr lang="en-US" sz="18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endParaRPr lang="en-US" sz="18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7AB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;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D99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486900" y="7748141"/>
            <a:ext cx="7887843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 picks the elements. Declarations set the styles.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43000" y="9767888"/>
            <a:ext cx="95250" cy="95250"/>
          </a:xfrm>
          <a:prstGeom prst="ellipse">
            <a:avLst/>
          </a:prstGeom>
          <a:solidFill>
            <a:srgbClr val="05B3A4"/>
          </a:solidFill>
          <a:ln/>
          <a:effectLst>
            <a:outerShdw sx="100000" sy="100000" kx="0" ky="0" algn="bl" rotWithShape="0" blurRad="133350" dist="50800" dir="16200000">
              <a:srgbClr val="05B3A4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71600" y="9705975"/>
            <a:ext cx="23894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HTML, CSS &amp; TypeScript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917739" y="9705975"/>
            <a:ext cx="30346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221352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</a:t>
            </a:r>
            <a:pPr algn="l" indent="0" marL="0">
              <a:buNone/>
            </a:pPr>
            <a:r>
              <a:rPr lang="en-US" sz="1650" spc="297" kern="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TARGETING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38275"/>
            <a:ext cx="1648206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108" kern="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108" kern="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2653605"/>
            <a:ext cx="1373505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families cover almost everything you'll write.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43000" y="4340423"/>
            <a:ext cx="2628900" cy="9525"/>
          </a:xfrm>
          <a:prstGeom prst="rect">
            <a:avLst/>
          </a:prstGeom>
          <a:solidFill>
            <a:srgbClr val="1F2832"/>
          </a:solidFill>
          <a:ln/>
        </p:spPr>
      </p:sp>
      <p:sp>
        <p:nvSpPr>
          <p:cNvPr id="6" name="Text 4"/>
          <p:cNvSpPr/>
          <p:nvPr/>
        </p:nvSpPr>
        <p:spPr>
          <a:xfrm>
            <a:off x="1409700" y="3878461"/>
            <a:ext cx="2174367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771900" y="4340423"/>
            <a:ext cx="6781800" cy="9525"/>
          </a:xfrm>
          <a:prstGeom prst="rect">
            <a:avLst/>
          </a:prstGeom>
          <a:solidFill>
            <a:srgbClr val="1F2832"/>
          </a:solidFill>
          <a:ln/>
        </p:spPr>
      </p:sp>
      <p:sp>
        <p:nvSpPr>
          <p:cNvPr id="8" name="Text 6"/>
          <p:cNvSpPr/>
          <p:nvPr/>
        </p:nvSpPr>
        <p:spPr>
          <a:xfrm>
            <a:off x="4038600" y="3878461"/>
            <a:ext cx="6451854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553700" y="4340423"/>
            <a:ext cx="4152900" cy="9525"/>
          </a:xfrm>
          <a:prstGeom prst="rect">
            <a:avLst/>
          </a:prstGeom>
          <a:solidFill>
            <a:srgbClr val="1F2832"/>
          </a:solidFill>
          <a:ln/>
        </p:spPr>
      </p:sp>
      <p:sp>
        <p:nvSpPr>
          <p:cNvPr id="10" name="Text 8"/>
          <p:cNvSpPr/>
          <p:nvPr/>
        </p:nvSpPr>
        <p:spPr>
          <a:xfrm>
            <a:off x="10820400" y="3878461"/>
            <a:ext cx="3744087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4706600" y="4340423"/>
            <a:ext cx="2438400" cy="9525"/>
          </a:xfrm>
          <a:prstGeom prst="rect">
            <a:avLst/>
          </a:prstGeom>
          <a:solidFill>
            <a:srgbClr val="1F2832"/>
          </a:solidFill>
          <a:ln/>
        </p:spPr>
      </p:sp>
      <p:sp>
        <p:nvSpPr>
          <p:cNvPr id="12" name="Text 10"/>
          <p:cNvSpPr/>
          <p:nvPr/>
        </p:nvSpPr>
        <p:spPr>
          <a:xfrm>
            <a:off x="14973300" y="3878461"/>
            <a:ext cx="198120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SPECIFICITY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43000" y="5202138"/>
            <a:ext cx="2628900" cy="9525"/>
          </a:xfrm>
          <a:prstGeom prst="rect">
            <a:avLst/>
          </a:prstGeom>
          <a:solidFill>
            <a:srgbClr val="1F2832"/>
          </a:solidFill>
          <a:ln/>
        </p:spPr>
      </p:sp>
      <p:sp>
        <p:nvSpPr>
          <p:cNvPr id="14" name="Text 12"/>
          <p:cNvSpPr/>
          <p:nvPr/>
        </p:nvSpPr>
        <p:spPr>
          <a:xfrm>
            <a:off x="1409700" y="4578548"/>
            <a:ext cx="2174367" cy="43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3771900" y="5202138"/>
            <a:ext cx="6781800" cy="9525"/>
          </a:xfrm>
          <a:prstGeom prst="rect">
            <a:avLst/>
          </a:prstGeom>
          <a:solidFill>
            <a:srgbClr val="1F2832"/>
          </a:solidFill>
          <a:ln/>
        </p:spPr>
      </p:sp>
      <p:sp>
        <p:nvSpPr>
          <p:cNvPr id="16" name="Text 14"/>
          <p:cNvSpPr/>
          <p:nvPr/>
        </p:nvSpPr>
        <p:spPr>
          <a:xfrm>
            <a:off x="4038600" y="4578548"/>
            <a:ext cx="6451854" cy="43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element of that type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0553700" y="5202138"/>
            <a:ext cx="4152900" cy="9525"/>
          </a:xfrm>
          <a:prstGeom prst="rect">
            <a:avLst/>
          </a:prstGeom>
          <a:solidFill>
            <a:srgbClr val="1F2832"/>
          </a:solidFill>
          <a:ln/>
        </p:spPr>
      </p:sp>
      <p:sp>
        <p:nvSpPr>
          <p:cNvPr id="18" name="Text 16"/>
          <p:cNvSpPr/>
          <p:nvPr/>
        </p:nvSpPr>
        <p:spPr>
          <a:xfrm>
            <a:off x="10820400" y="4578548"/>
            <a:ext cx="3744087" cy="43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{ … }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4706600" y="5202138"/>
            <a:ext cx="2438400" cy="9525"/>
          </a:xfrm>
          <a:prstGeom prst="rect">
            <a:avLst/>
          </a:prstGeom>
          <a:solidFill>
            <a:srgbClr val="1F2832"/>
          </a:solidFill>
          <a:ln/>
        </p:spPr>
      </p:sp>
      <p:sp>
        <p:nvSpPr>
          <p:cNvPr id="20" name="Text 18"/>
          <p:cNvSpPr/>
          <p:nvPr/>
        </p:nvSpPr>
        <p:spPr>
          <a:xfrm>
            <a:off x="14973300" y="4578548"/>
            <a:ext cx="1981200" cy="43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0,0,1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143000" y="5211663"/>
            <a:ext cx="2628900" cy="861715"/>
          </a:xfrm>
          <a:prstGeom prst="rect">
            <a:avLst/>
          </a:prstGeom>
          <a:solidFill>
            <a:srgbClr val="05B3A4">
              <a:alpha val="1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43000" y="6063853"/>
            <a:ext cx="2628900" cy="9525"/>
          </a:xfrm>
          <a:prstGeom prst="rect">
            <a:avLst/>
          </a:prstGeom>
          <a:solidFill>
            <a:srgbClr val="1F2832"/>
          </a:solidFill>
          <a:ln/>
        </p:spPr>
      </p:sp>
      <p:sp>
        <p:nvSpPr>
          <p:cNvPr id="23" name="Text 21"/>
          <p:cNvSpPr/>
          <p:nvPr/>
        </p:nvSpPr>
        <p:spPr>
          <a:xfrm>
            <a:off x="1409700" y="5440263"/>
            <a:ext cx="2174367" cy="43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.class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3771900" y="5211663"/>
            <a:ext cx="6781800" cy="861715"/>
          </a:xfrm>
          <a:prstGeom prst="rect">
            <a:avLst/>
          </a:prstGeom>
          <a:solidFill>
            <a:srgbClr val="05B3A4">
              <a:alpha val="1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771900" y="6063853"/>
            <a:ext cx="6781800" cy="9525"/>
          </a:xfrm>
          <a:prstGeom prst="rect">
            <a:avLst/>
          </a:prstGeom>
          <a:solidFill>
            <a:srgbClr val="1F2832"/>
          </a:solidFill>
          <a:ln/>
        </p:spPr>
      </p:sp>
      <p:sp>
        <p:nvSpPr>
          <p:cNvPr id="26" name="Text 24"/>
          <p:cNvSpPr/>
          <p:nvPr/>
        </p:nvSpPr>
        <p:spPr>
          <a:xfrm>
            <a:off x="4038600" y="5440263"/>
            <a:ext cx="6451854" cy="43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element with that class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0553700" y="5211663"/>
            <a:ext cx="4152900" cy="861715"/>
          </a:xfrm>
          <a:prstGeom prst="rect">
            <a:avLst/>
          </a:prstGeom>
          <a:solidFill>
            <a:srgbClr val="05B3A4">
              <a:alpha val="1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553700" y="6063853"/>
            <a:ext cx="4152900" cy="9525"/>
          </a:xfrm>
          <a:prstGeom prst="rect">
            <a:avLst/>
          </a:prstGeom>
          <a:solidFill>
            <a:srgbClr val="1F2832"/>
          </a:solidFill>
          <a:ln/>
        </p:spPr>
      </p:sp>
      <p:sp>
        <p:nvSpPr>
          <p:cNvPr id="29" name="Text 27"/>
          <p:cNvSpPr/>
          <p:nvPr/>
        </p:nvSpPr>
        <p:spPr>
          <a:xfrm>
            <a:off x="10820400" y="5440263"/>
            <a:ext cx="3744087" cy="43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.card { … }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4706600" y="5211663"/>
            <a:ext cx="2438400" cy="861715"/>
          </a:xfrm>
          <a:prstGeom prst="rect">
            <a:avLst/>
          </a:prstGeom>
          <a:solidFill>
            <a:srgbClr val="05B3A4">
              <a:alpha val="1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4706600" y="6063853"/>
            <a:ext cx="2438400" cy="9525"/>
          </a:xfrm>
          <a:prstGeom prst="rect">
            <a:avLst/>
          </a:prstGeom>
          <a:solidFill>
            <a:srgbClr val="1F2832"/>
          </a:solidFill>
          <a:ln/>
        </p:spPr>
      </p:sp>
      <p:sp>
        <p:nvSpPr>
          <p:cNvPr id="32" name="Text 30"/>
          <p:cNvSpPr/>
          <p:nvPr/>
        </p:nvSpPr>
        <p:spPr>
          <a:xfrm>
            <a:off x="14973300" y="5440263"/>
            <a:ext cx="1981200" cy="43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0,1,0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143000" y="6925568"/>
            <a:ext cx="2628900" cy="9525"/>
          </a:xfrm>
          <a:prstGeom prst="rect">
            <a:avLst/>
          </a:prstGeom>
          <a:solidFill>
            <a:srgbClr val="1F2832"/>
          </a:solidFill>
          <a:ln/>
        </p:spPr>
      </p:sp>
      <p:sp>
        <p:nvSpPr>
          <p:cNvPr id="34" name="Text 32"/>
          <p:cNvSpPr/>
          <p:nvPr/>
        </p:nvSpPr>
        <p:spPr>
          <a:xfrm>
            <a:off x="1409700" y="6301978"/>
            <a:ext cx="2174367" cy="43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#id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3771900" y="6925568"/>
            <a:ext cx="6781800" cy="9525"/>
          </a:xfrm>
          <a:prstGeom prst="rect">
            <a:avLst/>
          </a:prstGeom>
          <a:solidFill>
            <a:srgbClr val="1F2832"/>
          </a:solidFill>
          <a:ln/>
        </p:spPr>
      </p:sp>
      <p:sp>
        <p:nvSpPr>
          <p:cNvPr id="36" name="Text 34"/>
          <p:cNvSpPr/>
          <p:nvPr/>
        </p:nvSpPr>
        <p:spPr>
          <a:xfrm>
            <a:off x="4038600" y="6301978"/>
            <a:ext cx="6451854" cy="43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 element with that id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10553700" y="6925568"/>
            <a:ext cx="4152900" cy="9525"/>
          </a:xfrm>
          <a:prstGeom prst="rect">
            <a:avLst/>
          </a:prstGeom>
          <a:solidFill>
            <a:srgbClr val="1F2832"/>
          </a:solidFill>
          <a:ln/>
        </p:spPr>
      </p:sp>
      <p:sp>
        <p:nvSpPr>
          <p:cNvPr id="38" name="Text 36"/>
          <p:cNvSpPr/>
          <p:nvPr/>
        </p:nvSpPr>
        <p:spPr>
          <a:xfrm>
            <a:off x="10820400" y="6301978"/>
            <a:ext cx="3744087" cy="43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#hero { … }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14706600" y="6925568"/>
            <a:ext cx="2438400" cy="9525"/>
          </a:xfrm>
          <a:prstGeom prst="rect">
            <a:avLst/>
          </a:prstGeom>
          <a:solidFill>
            <a:srgbClr val="1F2832"/>
          </a:solidFill>
          <a:ln/>
        </p:spPr>
      </p:sp>
      <p:sp>
        <p:nvSpPr>
          <p:cNvPr id="40" name="Text 38"/>
          <p:cNvSpPr/>
          <p:nvPr/>
        </p:nvSpPr>
        <p:spPr>
          <a:xfrm>
            <a:off x="14973300" y="6301978"/>
            <a:ext cx="1981200" cy="43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1,0,0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1143000" y="7787283"/>
            <a:ext cx="2628900" cy="9525"/>
          </a:xfrm>
          <a:prstGeom prst="rect">
            <a:avLst/>
          </a:prstGeom>
          <a:solidFill>
            <a:srgbClr val="1F2832"/>
          </a:solidFill>
          <a:ln/>
        </p:spPr>
      </p:sp>
      <p:sp>
        <p:nvSpPr>
          <p:cNvPr id="42" name="Text 40"/>
          <p:cNvSpPr/>
          <p:nvPr/>
        </p:nvSpPr>
        <p:spPr>
          <a:xfrm>
            <a:off x="1409700" y="7163693"/>
            <a:ext cx="2174367" cy="43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[attr]</a:t>
            </a:r>
            <a:endParaRPr lang="en-US" sz="2250" dirty="0"/>
          </a:p>
        </p:txBody>
      </p:sp>
      <p:sp>
        <p:nvSpPr>
          <p:cNvPr id="43" name="Shape 41"/>
          <p:cNvSpPr/>
          <p:nvPr/>
        </p:nvSpPr>
        <p:spPr>
          <a:xfrm>
            <a:off x="3771900" y="7787283"/>
            <a:ext cx="6781800" cy="9525"/>
          </a:xfrm>
          <a:prstGeom prst="rect">
            <a:avLst/>
          </a:prstGeom>
          <a:solidFill>
            <a:srgbClr val="1F2832"/>
          </a:solidFill>
          <a:ln/>
        </p:spPr>
      </p:sp>
      <p:sp>
        <p:nvSpPr>
          <p:cNvPr id="44" name="Text 42"/>
          <p:cNvSpPr/>
          <p:nvPr/>
        </p:nvSpPr>
        <p:spPr>
          <a:xfrm>
            <a:off x="4038600" y="7163693"/>
            <a:ext cx="6451854" cy="43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Elements with an attribute</a:t>
            </a:r>
            <a:endParaRPr lang="en-US" sz="1950" dirty="0"/>
          </a:p>
        </p:txBody>
      </p:sp>
      <p:sp>
        <p:nvSpPr>
          <p:cNvPr id="45" name="Shape 43"/>
          <p:cNvSpPr/>
          <p:nvPr/>
        </p:nvSpPr>
        <p:spPr>
          <a:xfrm>
            <a:off x="10553700" y="7787283"/>
            <a:ext cx="4152900" cy="9525"/>
          </a:xfrm>
          <a:prstGeom prst="rect">
            <a:avLst/>
          </a:prstGeom>
          <a:solidFill>
            <a:srgbClr val="1F2832"/>
          </a:solidFill>
          <a:ln/>
        </p:spPr>
      </p:sp>
      <p:sp>
        <p:nvSpPr>
          <p:cNvPr id="46" name="Text 44"/>
          <p:cNvSpPr/>
          <p:nvPr/>
        </p:nvSpPr>
        <p:spPr>
          <a:xfrm>
            <a:off x="10820400" y="7163693"/>
            <a:ext cx="3744087" cy="43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[disabled] { … }</a:t>
            </a:r>
            <a:endParaRPr lang="en-US" sz="1950" dirty="0"/>
          </a:p>
        </p:txBody>
      </p:sp>
      <p:sp>
        <p:nvSpPr>
          <p:cNvPr id="47" name="Shape 45"/>
          <p:cNvSpPr/>
          <p:nvPr/>
        </p:nvSpPr>
        <p:spPr>
          <a:xfrm>
            <a:off x="14706600" y="7787283"/>
            <a:ext cx="2438400" cy="9525"/>
          </a:xfrm>
          <a:prstGeom prst="rect">
            <a:avLst/>
          </a:prstGeom>
          <a:solidFill>
            <a:srgbClr val="1F2832"/>
          </a:solidFill>
          <a:ln/>
        </p:spPr>
      </p:sp>
      <p:sp>
        <p:nvSpPr>
          <p:cNvPr id="48" name="Text 46"/>
          <p:cNvSpPr/>
          <p:nvPr/>
        </p:nvSpPr>
        <p:spPr>
          <a:xfrm>
            <a:off x="14973300" y="7163693"/>
            <a:ext cx="1981200" cy="43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0,1,0</a:t>
            </a:r>
            <a:endParaRPr lang="en-US" sz="1950" dirty="0"/>
          </a:p>
        </p:txBody>
      </p:sp>
      <p:sp>
        <p:nvSpPr>
          <p:cNvPr id="49" name="Shape 47"/>
          <p:cNvSpPr/>
          <p:nvPr/>
        </p:nvSpPr>
        <p:spPr>
          <a:xfrm>
            <a:off x="1143000" y="8648998"/>
            <a:ext cx="2628900" cy="9525"/>
          </a:xfrm>
          <a:prstGeom prst="rect">
            <a:avLst/>
          </a:prstGeom>
          <a:solidFill>
            <a:srgbClr val="1F2832"/>
          </a:solidFill>
          <a:ln/>
        </p:spPr>
      </p:sp>
      <p:sp>
        <p:nvSpPr>
          <p:cNvPr id="50" name="Text 48"/>
          <p:cNvSpPr/>
          <p:nvPr/>
        </p:nvSpPr>
        <p:spPr>
          <a:xfrm>
            <a:off x="1409700" y="8025408"/>
            <a:ext cx="2174367" cy="43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:pseudo</a:t>
            </a:r>
            <a:endParaRPr lang="en-US" sz="2250" dirty="0"/>
          </a:p>
        </p:txBody>
      </p:sp>
      <p:sp>
        <p:nvSpPr>
          <p:cNvPr id="51" name="Shape 49"/>
          <p:cNvSpPr/>
          <p:nvPr/>
        </p:nvSpPr>
        <p:spPr>
          <a:xfrm>
            <a:off x="3771900" y="8648998"/>
            <a:ext cx="6781800" cy="9525"/>
          </a:xfrm>
          <a:prstGeom prst="rect">
            <a:avLst/>
          </a:prstGeom>
          <a:solidFill>
            <a:srgbClr val="1F2832"/>
          </a:solidFill>
          <a:ln/>
        </p:spPr>
      </p:sp>
      <p:sp>
        <p:nvSpPr>
          <p:cNvPr id="52" name="Text 50"/>
          <p:cNvSpPr/>
          <p:nvPr/>
        </p:nvSpPr>
        <p:spPr>
          <a:xfrm>
            <a:off x="4038600" y="8025408"/>
            <a:ext cx="6451854" cy="43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or position</a:t>
            </a:r>
            <a:endParaRPr lang="en-US" sz="1950" dirty="0"/>
          </a:p>
        </p:txBody>
      </p:sp>
      <p:sp>
        <p:nvSpPr>
          <p:cNvPr id="53" name="Shape 51"/>
          <p:cNvSpPr/>
          <p:nvPr/>
        </p:nvSpPr>
        <p:spPr>
          <a:xfrm>
            <a:off x="10553700" y="8648998"/>
            <a:ext cx="4152900" cy="9525"/>
          </a:xfrm>
          <a:prstGeom prst="rect">
            <a:avLst/>
          </a:prstGeom>
          <a:solidFill>
            <a:srgbClr val="1F2832"/>
          </a:solidFill>
          <a:ln/>
        </p:spPr>
      </p:sp>
      <p:sp>
        <p:nvSpPr>
          <p:cNvPr id="54" name="Text 52"/>
          <p:cNvSpPr/>
          <p:nvPr/>
        </p:nvSpPr>
        <p:spPr>
          <a:xfrm>
            <a:off x="10820400" y="8025408"/>
            <a:ext cx="3744087" cy="43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a:hover { … }</a:t>
            </a:r>
            <a:endParaRPr lang="en-US" sz="1950" dirty="0"/>
          </a:p>
        </p:txBody>
      </p:sp>
      <p:sp>
        <p:nvSpPr>
          <p:cNvPr id="55" name="Shape 53"/>
          <p:cNvSpPr/>
          <p:nvPr/>
        </p:nvSpPr>
        <p:spPr>
          <a:xfrm>
            <a:off x="14706600" y="8648998"/>
            <a:ext cx="2438400" cy="9525"/>
          </a:xfrm>
          <a:prstGeom prst="rect">
            <a:avLst/>
          </a:prstGeom>
          <a:solidFill>
            <a:srgbClr val="1F2832"/>
          </a:solidFill>
          <a:ln/>
        </p:spPr>
      </p:sp>
      <p:sp>
        <p:nvSpPr>
          <p:cNvPr id="56" name="Text 54"/>
          <p:cNvSpPr/>
          <p:nvPr/>
        </p:nvSpPr>
        <p:spPr>
          <a:xfrm>
            <a:off x="14973300" y="8025408"/>
            <a:ext cx="1981200" cy="43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0,1,0</a:t>
            </a:r>
            <a:endParaRPr lang="en-US" sz="1950" dirty="0"/>
          </a:p>
        </p:txBody>
      </p:sp>
      <p:sp>
        <p:nvSpPr>
          <p:cNvPr id="57" name="Shape 55"/>
          <p:cNvSpPr/>
          <p:nvPr/>
        </p:nvSpPr>
        <p:spPr>
          <a:xfrm>
            <a:off x="1143000" y="9510713"/>
            <a:ext cx="2628900" cy="9525"/>
          </a:xfrm>
          <a:prstGeom prst="rect">
            <a:avLst/>
          </a:prstGeom>
          <a:solidFill>
            <a:srgbClr val="1F2832"/>
          </a:solidFill>
          <a:ln/>
        </p:spPr>
      </p:sp>
      <p:sp>
        <p:nvSpPr>
          <p:cNvPr id="58" name="Text 56"/>
          <p:cNvSpPr/>
          <p:nvPr/>
        </p:nvSpPr>
        <p:spPr>
          <a:xfrm>
            <a:off x="1409700" y="8887123"/>
            <a:ext cx="2174367" cy="43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&gt; b</a:t>
            </a:r>
            <a:endParaRPr lang="en-US" sz="2250" dirty="0"/>
          </a:p>
        </p:txBody>
      </p:sp>
      <p:sp>
        <p:nvSpPr>
          <p:cNvPr id="59" name="Shape 57"/>
          <p:cNvSpPr/>
          <p:nvPr/>
        </p:nvSpPr>
        <p:spPr>
          <a:xfrm>
            <a:off x="3771900" y="9510713"/>
            <a:ext cx="6781800" cy="9525"/>
          </a:xfrm>
          <a:prstGeom prst="rect">
            <a:avLst/>
          </a:prstGeom>
          <a:solidFill>
            <a:srgbClr val="1F2832"/>
          </a:solidFill>
          <a:ln/>
        </p:spPr>
      </p:sp>
      <p:sp>
        <p:nvSpPr>
          <p:cNvPr id="60" name="Text 58"/>
          <p:cNvSpPr/>
          <p:nvPr/>
        </p:nvSpPr>
        <p:spPr>
          <a:xfrm>
            <a:off x="4038600" y="8887123"/>
            <a:ext cx="6451854" cy="43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Combinators — descendant, child, sibling</a:t>
            </a:r>
            <a:endParaRPr lang="en-US" sz="1950" dirty="0"/>
          </a:p>
        </p:txBody>
      </p:sp>
      <p:sp>
        <p:nvSpPr>
          <p:cNvPr id="61" name="Shape 59"/>
          <p:cNvSpPr/>
          <p:nvPr/>
        </p:nvSpPr>
        <p:spPr>
          <a:xfrm>
            <a:off x="10553700" y="9510713"/>
            <a:ext cx="4152900" cy="9525"/>
          </a:xfrm>
          <a:prstGeom prst="rect">
            <a:avLst/>
          </a:prstGeom>
          <a:solidFill>
            <a:srgbClr val="1F2832"/>
          </a:solidFill>
          <a:ln/>
        </p:spPr>
      </p:sp>
      <p:sp>
        <p:nvSpPr>
          <p:cNvPr id="62" name="Text 60"/>
          <p:cNvSpPr/>
          <p:nvPr/>
        </p:nvSpPr>
        <p:spPr>
          <a:xfrm>
            <a:off x="10820400" y="8887123"/>
            <a:ext cx="3744087" cy="43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 &gt; ul li { … }</a:t>
            </a:r>
            <a:endParaRPr lang="en-US" sz="1950" dirty="0"/>
          </a:p>
        </p:txBody>
      </p:sp>
      <p:sp>
        <p:nvSpPr>
          <p:cNvPr id="63" name="Shape 61"/>
          <p:cNvSpPr/>
          <p:nvPr/>
        </p:nvSpPr>
        <p:spPr>
          <a:xfrm>
            <a:off x="14706600" y="9510713"/>
            <a:ext cx="2438400" cy="9525"/>
          </a:xfrm>
          <a:prstGeom prst="rect">
            <a:avLst/>
          </a:prstGeom>
          <a:solidFill>
            <a:srgbClr val="1F2832"/>
          </a:solidFill>
          <a:ln/>
        </p:spPr>
      </p:sp>
      <p:sp>
        <p:nvSpPr>
          <p:cNvPr id="64" name="Text 62"/>
          <p:cNvSpPr/>
          <p:nvPr/>
        </p:nvSpPr>
        <p:spPr>
          <a:xfrm>
            <a:off x="14973300" y="8887123"/>
            <a:ext cx="1981200" cy="43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sums up</a:t>
            </a:r>
            <a:endParaRPr lang="en-US" sz="1950" dirty="0"/>
          </a:p>
        </p:txBody>
      </p:sp>
      <p:sp>
        <p:nvSpPr>
          <p:cNvPr id="65" name="Shape 63"/>
          <p:cNvSpPr/>
          <p:nvPr/>
        </p:nvSpPr>
        <p:spPr>
          <a:xfrm>
            <a:off x="1143000" y="9767888"/>
            <a:ext cx="95250" cy="95250"/>
          </a:xfrm>
          <a:prstGeom prst="ellipse">
            <a:avLst/>
          </a:prstGeom>
          <a:solidFill>
            <a:srgbClr val="05B3A4"/>
          </a:solidFill>
          <a:ln/>
          <a:effectLst>
            <a:outerShdw sx="100000" sy="100000" kx="0" ky="0" algn="bl" rotWithShape="0" blurRad="133350" dist="50800" dir="16200000">
              <a:srgbClr val="05B3A4">
                <a:alpha val="10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1371600" y="9705975"/>
            <a:ext cx="23894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HTML, CSS &amp; TypeScript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16917739" y="9705975"/>
            <a:ext cx="30346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285462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</a:t>
            </a:r>
            <a:pPr algn="l" indent="0" marL="0">
              <a:buNone/>
            </a:pPr>
            <a:r>
              <a:rPr lang="en-US" sz="1650" spc="297" kern="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LAYOUT'S ATOM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38275"/>
            <a:ext cx="1648206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108" kern="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108" kern="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Model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2653605"/>
            <a:ext cx="1373505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element is a rectangle made of four concentric layers.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485900" y="4008537"/>
            <a:ext cx="6745810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485900" y="4419898"/>
            <a:ext cx="674581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Text, image, child elements — the actual stuff.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85900" y="4949428"/>
            <a:ext cx="6745810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Padding.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485900" y="5360789"/>
            <a:ext cx="674581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inside the border. Inherits the background.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85900" y="5890320"/>
            <a:ext cx="6745810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485900" y="6301680"/>
            <a:ext cx="674581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line around the padding.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85900" y="6831211"/>
            <a:ext cx="6745810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485900" y="7242572"/>
            <a:ext cx="674581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outside the border, between this box and its neighbours.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8225433"/>
            <a:ext cx="7098997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box-sizing: border-box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width &amp; height include padding + border. Almost always what you want.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0031016" y="4653855"/>
            <a:ext cx="5803999" cy="4248150"/>
          </a:xfrm>
          <a:prstGeom prst="roundRect">
            <a:avLst>
              <a:gd name="adj" fmla="val 3139"/>
            </a:avLst>
          </a:prstGeom>
          <a:solidFill>
            <a:srgbClr val="F5A524">
              <a:alpha val="10000"/>
            </a:srgbClr>
          </a:solidFill>
          <a:ln w="9525">
            <a:solidFill>
              <a:srgbClr val="F5A524">
                <a:alpha val="50000"/>
              </a:srgbClr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0173891" y="4739580"/>
            <a:ext cx="90606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F5B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612041" y="5234880"/>
            <a:ext cx="4641949" cy="3086100"/>
          </a:xfrm>
          <a:prstGeom prst="roundRect">
            <a:avLst>
              <a:gd name="adj" fmla="val 3704"/>
            </a:avLst>
          </a:prstGeom>
          <a:solidFill>
            <a:srgbClr val="D982F4">
              <a:alpha val="10000"/>
            </a:srgbClr>
          </a:solidFill>
          <a:ln w="9525">
            <a:solidFill>
              <a:srgbClr val="D982F4">
                <a:alpha val="50000"/>
              </a:srgbClr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0754916" y="5320605"/>
            <a:ext cx="95383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D99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1097816" y="5720655"/>
            <a:ext cx="3670399" cy="2114550"/>
          </a:xfrm>
          <a:prstGeom prst="roundRect">
            <a:avLst>
              <a:gd name="adj" fmla="val 4505"/>
            </a:avLst>
          </a:prstGeom>
          <a:solidFill>
            <a:srgbClr val="6EE7B7">
              <a:alpha val="10000"/>
            </a:srgbClr>
          </a:solidFill>
          <a:ln w="9525">
            <a:solidFill>
              <a:srgbClr val="6EE7B7">
                <a:alpha val="50000"/>
              </a:srgbClr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11240691" y="5806380"/>
            <a:ext cx="10127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PADDING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1583591" y="6206430"/>
            <a:ext cx="2698849" cy="1143000"/>
          </a:xfrm>
          <a:prstGeom prst="roundRect">
            <a:avLst>
              <a:gd name="adj" fmla="val 6667"/>
            </a:avLst>
          </a:prstGeom>
          <a:solidFill>
            <a:srgbClr val="05B3A4">
              <a:alpha val="14000"/>
            </a:srgbClr>
          </a:solidFill>
          <a:ln w="9525">
            <a:solidFill>
              <a:srgbClr val="05B3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55116" y="6596955"/>
            <a:ext cx="123676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143000" y="9767888"/>
            <a:ext cx="95250" cy="95250"/>
          </a:xfrm>
          <a:prstGeom prst="ellipse">
            <a:avLst/>
          </a:prstGeom>
          <a:solidFill>
            <a:srgbClr val="05B3A4"/>
          </a:solidFill>
          <a:ln/>
          <a:effectLst>
            <a:outerShdw sx="100000" sy="100000" kx="0" ky="0" algn="bl" rotWithShape="0" blurRad="133350" dist="50800" dir="16200000">
              <a:srgbClr val="05B3A4">
                <a:alpha val="10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371600" y="9705975"/>
            <a:ext cx="23894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HTML, CSS &amp; TypeScript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6917739" y="9705975"/>
            <a:ext cx="30346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26623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</a:t>
            </a:r>
            <a:pPr algn="l" indent="0" marL="0">
              <a:buNone/>
            </a:pPr>
            <a:r>
              <a:rPr lang="en-US" sz="1650" spc="297" kern="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BEHAVIOR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38275"/>
            <a:ext cx="1648206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108" kern="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&amp;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108" kern="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2653605"/>
            <a:ext cx="13735050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 runs in every browser. TS is JS with a type system bolted on top — checked before it ever runs.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43000" y="4112716"/>
            <a:ext cx="7658100" cy="5412284"/>
          </a:xfrm>
          <a:prstGeom prst="roundRect">
            <a:avLst>
              <a:gd name="adj" fmla="val 2464"/>
            </a:avLst>
          </a:prstGeom>
          <a:solidFill>
            <a:srgbClr val="11161D"/>
          </a:solidFill>
          <a:ln w="9525">
            <a:solidFill>
              <a:srgbClr val="1F28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14475" y="4465141"/>
            <a:ext cx="712260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14475" y="4950916"/>
            <a:ext cx="7122605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15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language of the web.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514475" y="5619452"/>
            <a:ext cx="7122605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Dynamic, interpreted, runs in the browser and on servers (Node, Deno, Bun). No compile step required.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514475" y="6565999"/>
            <a:ext cx="6915150" cy="2252365"/>
          </a:xfrm>
          <a:prstGeom prst="roundRect">
            <a:avLst>
              <a:gd name="adj" fmla="val 5075"/>
            </a:avLst>
          </a:prstGeom>
          <a:solidFill>
            <a:srgbClr val="0A0D12"/>
          </a:solidFill>
          <a:ln w="9525">
            <a:solidFill>
              <a:srgbClr val="1F28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66900" y="6880324"/>
            <a:ext cx="6417755" cy="1661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D99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greet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(name)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D99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D99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"Hi, "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+ name;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D99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greet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B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);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"Hi, 42" — no error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9486900" y="4112716"/>
            <a:ext cx="7658100" cy="5412284"/>
          </a:xfrm>
          <a:prstGeom prst="roundRect">
            <a:avLst>
              <a:gd name="adj" fmla="val 2464"/>
            </a:avLst>
          </a:prstGeom>
          <a:solidFill>
            <a:srgbClr val="05B3A4">
              <a:alpha val="8000"/>
            </a:srgbClr>
          </a:solidFill>
          <a:ln w="9525">
            <a:solidFill>
              <a:srgbClr val="05B3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58375" y="4465141"/>
            <a:ext cx="712260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858375" y="4950916"/>
            <a:ext cx="7122605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15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that catches mistakes.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9858375" y="5619452"/>
            <a:ext cx="7122605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superset of JS. Adds type annotations, checked at build time. Compiles down to plain JavaScript.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858375" y="6565999"/>
            <a:ext cx="6915150" cy="2252365"/>
          </a:xfrm>
          <a:prstGeom prst="roundRect">
            <a:avLst>
              <a:gd name="adj" fmla="val 5075"/>
            </a:avLst>
          </a:prstGeom>
          <a:solidFill>
            <a:srgbClr val="0A0D12"/>
          </a:solidFill>
          <a:ln w="9525">
            <a:solidFill>
              <a:srgbClr val="1F28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10800" y="6880324"/>
            <a:ext cx="6417755" cy="1661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D99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greet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(name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D99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7AB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D99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7AB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D99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D99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"Hi, "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+ name;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D99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greet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B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EF2F6"/>
                </a:solidFill>
                <a:highlight>
                  <a:srgbClr val="0A0D1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);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✗ Type error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143000" y="9767888"/>
            <a:ext cx="95250" cy="95250"/>
          </a:xfrm>
          <a:prstGeom prst="ellipse">
            <a:avLst/>
          </a:prstGeom>
          <a:solidFill>
            <a:srgbClr val="05B3A4"/>
          </a:solidFill>
          <a:ln/>
          <a:effectLst>
            <a:outerShdw sx="100000" sy="100000" kx="0" ky="0" algn="bl" rotWithShape="0" blurRad="133350" dist="50800" dir="16200000">
              <a:srgbClr val="05B3A4">
                <a:alpha val="10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71600" y="9705975"/>
            <a:ext cx="23894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HTML, CSS &amp; TypeScript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917739" y="9705975"/>
            <a:ext cx="30346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211440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</a:t>
            </a:r>
            <a:pPr algn="l" indent="0" marL="0">
              <a:buNone/>
            </a:pPr>
            <a:r>
              <a:rPr lang="en-US" sz="1650" spc="297" kern="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38275"/>
            <a:ext cx="1648206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108" kern="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108" kern="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TypeScript?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2653605"/>
            <a:ext cx="1373505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things you get the moment you turn it on.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43000" y="3649861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05B3A4">
              <a:alpha val="14000"/>
            </a:srgbClr>
          </a:solidFill>
          <a:ln w="9525">
            <a:solidFill>
              <a:srgbClr val="05B3A4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4425" y="3659386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981200" y="3649861"/>
            <a:ext cx="71029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bugs at build time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981200" y="4088011"/>
            <a:ext cx="7102983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Misspelled props, wrong argument types, missing fields — surfaced before the code ever runs.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410700" y="3649861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05B3A4">
              <a:alpha val="14000"/>
            </a:srgbClr>
          </a:solidFill>
          <a:ln w="9525">
            <a:solidFill>
              <a:srgbClr val="05B3A4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82125" y="3659386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⌖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0248900" y="3649861"/>
            <a:ext cx="71029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superpowers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0248900" y="4088011"/>
            <a:ext cx="7102983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Autocomplete, inline docs, jump-to-definition, safe rename. The editor knows your shapes.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43000" y="5709791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05B3A4">
              <a:alpha val="14000"/>
            </a:srgbClr>
          </a:solidFill>
          <a:ln w="9525">
            <a:solidFill>
              <a:srgbClr val="05B3A4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4425" y="5719316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{}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981200" y="5709791"/>
            <a:ext cx="71029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Self-documenting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981200" y="6147941"/>
            <a:ext cx="7102983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are docs that can't go stale. The signature tells you what a function expects and returns.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410700" y="5709791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05B3A4">
              <a:alpha val="14000"/>
            </a:srgbClr>
          </a:solidFill>
          <a:ln w="9525">
            <a:solidFill>
              <a:srgbClr val="05B3A4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82125" y="5719316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0248900" y="5709791"/>
            <a:ext cx="71029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 with confidence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0248900" y="6147941"/>
            <a:ext cx="7102983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a type, the compiler shows every place that needs to update. Big rewrites become tractable.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43000" y="7769721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05B3A4">
              <a:alpha val="14000"/>
            </a:srgbClr>
          </a:solidFill>
          <a:ln w="9525">
            <a:solidFill>
              <a:srgbClr val="05B3A4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4425" y="7779246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981200" y="7769721"/>
            <a:ext cx="71029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JavaScript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981200" y="8207871"/>
            <a:ext cx="7102983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superset. Any valid JS is valid TS. Adopt gradually — file by file, type by type.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410700" y="7769721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05B3A4">
              <a:alpha val="14000"/>
            </a:srgbClr>
          </a:solidFill>
          <a:ln w="9525">
            <a:solidFill>
              <a:srgbClr val="05B3A4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82125" y="7779246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0248900" y="7769721"/>
            <a:ext cx="71029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with the team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0248900" y="8207871"/>
            <a:ext cx="7102983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is faster; cross-team contracts hold. Most large frontends ship in TypeScript today.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143000" y="9767888"/>
            <a:ext cx="95250" cy="95250"/>
          </a:xfrm>
          <a:prstGeom prst="ellipse">
            <a:avLst/>
          </a:prstGeom>
          <a:solidFill>
            <a:srgbClr val="05B3A4"/>
          </a:solidFill>
          <a:ln/>
          <a:effectLst>
            <a:outerShdw sx="100000" sy="100000" kx="0" ky="0" algn="bl" rotWithShape="0" blurRad="133350" dist="50800" dir="16200000">
              <a:srgbClr val="05B3A4">
                <a:alpha val="10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371600" y="9705975"/>
            <a:ext cx="23894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HTML, CSS &amp; TypeScript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6917739" y="9705975"/>
            <a:ext cx="30346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213434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</a:t>
            </a:r>
            <a:pPr algn="l" indent="0" marL="0">
              <a:buNone/>
            </a:pPr>
            <a:r>
              <a:rPr lang="en-US" sz="1650" spc="297" kern="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38275"/>
            <a:ext cx="1648206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108" kern="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they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108" kern="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together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2653605"/>
            <a:ext cx="1373505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your source files to the pixels a user sees.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43000" y="3701355"/>
            <a:ext cx="16002000" cy="866775"/>
          </a:xfrm>
          <a:prstGeom prst="roundRect">
            <a:avLst>
              <a:gd name="adj" fmla="val 13187"/>
            </a:avLst>
          </a:prstGeom>
          <a:solidFill>
            <a:srgbClr val="11161D"/>
          </a:solidFill>
          <a:ln w="9525">
            <a:solidFill>
              <a:srgbClr val="1F28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95425" y="4025205"/>
            <a:ext cx="2171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95725" y="3958530"/>
            <a:ext cx="1143427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· you write .ts / .tsx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5301764" y="4010918"/>
            <a:ext cx="156701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tsc, vite, esbuild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143000" y="4701480"/>
            <a:ext cx="16002000" cy="847725"/>
          </a:xfrm>
          <a:prstGeom prst="roundRect">
            <a:avLst>
              <a:gd name="adj" fmla="val 13483"/>
            </a:avLst>
          </a:prstGeom>
          <a:solidFill>
            <a:srgbClr val="11161D"/>
          </a:solidFill>
          <a:ln w="9525">
            <a:solidFill>
              <a:srgbClr val="1F28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5425" y="5015805"/>
            <a:ext cx="2171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95725" y="4958655"/>
            <a:ext cx="1219031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Type-check, then strip types to plain JavaScript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6035784" y="5001518"/>
            <a:ext cx="83299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.ts → .js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143000" y="5682555"/>
            <a:ext cx="16002000" cy="847725"/>
          </a:xfrm>
          <a:prstGeom prst="roundRect">
            <a:avLst>
              <a:gd name="adj" fmla="val 13483"/>
            </a:avLst>
          </a:prstGeom>
          <a:solidFill>
            <a:srgbClr val="05B3A4">
              <a:alpha val="14000"/>
            </a:srgbClr>
          </a:solidFill>
          <a:ln w="9525">
            <a:solidFill>
              <a:srgbClr val="05B3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95425" y="5996880"/>
            <a:ext cx="2171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95725" y="5939730"/>
            <a:ext cx="1150617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· the document the browser loads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5371564" y="5982593"/>
            <a:ext cx="149721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&lt;script&gt;, &lt;link&gt;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143000" y="6663630"/>
            <a:ext cx="16002000" cy="847725"/>
          </a:xfrm>
          <a:prstGeom prst="roundRect">
            <a:avLst>
              <a:gd name="adj" fmla="val 13483"/>
            </a:avLst>
          </a:prstGeom>
          <a:solidFill>
            <a:srgbClr val="11161D"/>
          </a:solidFill>
          <a:ln w="9525">
            <a:solidFill>
              <a:srgbClr val="1F28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95425" y="6977955"/>
            <a:ext cx="2171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95725" y="6920805"/>
            <a:ext cx="1130244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· applied to the parsed DOM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5173771" y="6963668"/>
            <a:ext cx="169500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selectors → rules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143000" y="7644705"/>
            <a:ext cx="16002000" cy="847725"/>
          </a:xfrm>
          <a:prstGeom prst="roundRect">
            <a:avLst>
              <a:gd name="adj" fmla="val 13483"/>
            </a:avLst>
          </a:prstGeom>
          <a:solidFill>
            <a:srgbClr val="11161D"/>
          </a:solidFill>
          <a:ln w="9525">
            <a:solidFill>
              <a:srgbClr val="1F28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95425" y="7959030"/>
            <a:ext cx="2171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895725" y="7901880"/>
            <a:ext cx="961085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engine · reads &amp; writes the DOM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3531453" y="7944743"/>
            <a:ext cx="335895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V8, JavaScriptCore, SpiderMonkey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143000" y="8625780"/>
            <a:ext cx="16002000" cy="847725"/>
          </a:xfrm>
          <a:prstGeom prst="roundRect">
            <a:avLst>
              <a:gd name="adj" fmla="val 13483"/>
            </a:avLst>
          </a:prstGeom>
          <a:solidFill>
            <a:srgbClr val="11161D"/>
          </a:solidFill>
          <a:ln w="9525">
            <a:solidFill>
              <a:srgbClr val="1F28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95425" y="8940105"/>
            <a:ext cx="2171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895725" y="8882955"/>
            <a:ext cx="1055851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paints pixels for the user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4451509" y="8925818"/>
            <a:ext cx="241726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· paint · composite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143000" y="9767888"/>
            <a:ext cx="95250" cy="95250"/>
          </a:xfrm>
          <a:prstGeom prst="ellipse">
            <a:avLst/>
          </a:prstGeom>
          <a:solidFill>
            <a:srgbClr val="05B3A4"/>
          </a:solidFill>
          <a:ln/>
          <a:effectLst>
            <a:outerShdw sx="100000" sy="100000" kx="0" ky="0" algn="bl" rotWithShape="0" blurRad="133350" dist="50800" dir="16200000">
              <a:srgbClr val="05B3A4">
                <a:alpha val="10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371600" y="9705975"/>
            <a:ext cx="23894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HTML, CSS &amp; TypeScript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6917739" y="9705975"/>
            <a:ext cx="30346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52980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97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</a:t>
            </a:r>
            <a:pPr algn="l" indent="0" marL="0">
              <a:buNone/>
            </a:pPr>
            <a:r>
              <a:rPr lang="en-US" sz="1650" spc="297" kern="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38275"/>
            <a:ext cx="1648206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spc="-108" kern="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108" kern="0" dirty="0">
                <a:solidFill>
                  <a:srgbClr val="2CD9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keep.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2729805"/>
            <a:ext cx="10287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05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324100" y="2929830"/>
            <a:ext cx="15265527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is structure, CSS is presentation, JS is behavior.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324100" y="3432721"/>
            <a:ext cx="15265527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languages, three jobs. Don't blur them.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4148882"/>
            <a:ext cx="10287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05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324100" y="4348907"/>
            <a:ext cx="15265527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DOM is the shared interface.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324100" y="4851797"/>
            <a:ext cx="15265527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becomes a tree; CSS styles it; JavaScript reads &amp; writes it. That tree is where everything meets.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43000" y="5567958"/>
            <a:ext cx="10287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05B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2324100" y="5767983"/>
            <a:ext cx="15265527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is JavaScript with guardrails.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324100" y="6270873"/>
            <a:ext cx="15265527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runtime, more confidence — types catch the mistakes before users do.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143000" y="7997279"/>
            <a:ext cx="16002000" cy="9525"/>
          </a:xfrm>
          <a:prstGeom prst="rect">
            <a:avLst/>
          </a:prstGeom>
          <a:solidFill>
            <a:srgbClr val="1F2832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8578304"/>
            <a:ext cx="895767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143000" y="9039225"/>
            <a:ext cx="895767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EE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&amp; modern frontend frameworks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3711238" y="9144000"/>
            <a:ext cx="381000" cy="381000"/>
          </a:xfrm>
          <a:prstGeom prst="ellipse">
            <a:avLst/>
          </a:prstGeom>
          <a:ln w="19050">
            <a:solidFill>
              <a:srgbClr val="05B3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263688" y="9201150"/>
            <a:ext cx="296775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MODULE 02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2026-04-27T06:25:34Z</dcterms:created>
  <dcterms:modified xsi:type="dcterms:W3CDTF">2026-04-27T06:25:34Z</dcterms:modified>
</cp:coreProperties>
</file>