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98901b4b3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d98901b4b3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1" name="Google Shape;61;g3d98901b4b3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8901b4b3_2_1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d98901b4b3_2_1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7" name="Google Shape;77;g3d98901b4b3_2_1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8901b4b3_2_4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98901b4b3_2_4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1" name="Google Shape;101;g3d98901b4b3_2_4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98901b4b3_2_6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98901b4b3_2_6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8" name="Google Shape;128;g3d98901b4b3_2_6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8901b4b3_2_8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98901b4b3_2_8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6" name="Google Shape;146;g3d98901b4b3_2_8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98901b4b3_2_11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98901b4b3_2_11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77" name="Google Shape;177;g3d98901b4b3_2_11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98901b4b3_2_17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d98901b4b3_2_17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41" name="Google Shape;241;g3d98901b4b3_2_17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98901b4b3_2_20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d98901b4b3_2_20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72" name="Google Shape;272;g3d98901b4b3_2_20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98901b4b3_2_22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d98901b4b3_2_22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94" name="Google Shape;294;g3d98901b4b3_2_22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98901b4b3_2_26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d98901b4b3_2_26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29" name="Google Shape;329;g3d98901b4b3_2_26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98901b4b3_2_29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d98901b4b3_2_29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64" name="Google Shape;364;g3d98901b4b3_2_29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98901b4b3_2_33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d98901b4b3_2_33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99" name="Google Shape;399;g3d98901b4b3_2_33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98901b4b3_2_37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d98901b4b3_2_37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42" name="Google Shape;442;g3d98901b4b3_2_37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98901b4b3_2_40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d98901b4b3_2_40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76" name="Google Shape;476;g3d98901b4b3_2_40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571500" y="476250"/>
            <a:ext cx="190500" cy="190500"/>
          </a:xfrm>
          <a:prstGeom prst="ellipse">
            <a:avLst/>
          </a:prstGeom>
          <a:noFill/>
          <a:ln cap="flat" cmpd="sng" w="19050">
            <a:solidFill>
              <a:srgbClr val="05B3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847725" y="504825"/>
            <a:ext cx="138845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API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576417" y="484807"/>
            <a:ext cx="2055966" cy="1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Module 01 · Python Backend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71500" y="1713235"/>
            <a:ext cx="8241030" cy="155510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6300"/>
              <a:buFont typeface="Arial"/>
              <a:buNone/>
            </a:pPr>
            <a:r>
              <a:rPr b="1" i="0" lang="en" sz="63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REST APIs &amp; </a:t>
            </a:r>
            <a:r>
              <a:rPr b="0" i="1" lang="en" sz="63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571500" y="4295775"/>
            <a:ext cx="80010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571500" y="4452938"/>
            <a:ext cx="2550795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AUDIENCE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571500" y="4610100"/>
            <a:ext cx="25507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Intermediate Python developers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333750" y="4452938"/>
            <a:ext cx="2550795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3333750" y="4610100"/>
            <a:ext cx="25507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Concept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6096000" y="4452938"/>
            <a:ext cx="2550795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6096000" y="4610100"/>
            <a:ext cx="25507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Understand what each is &amp; why it matters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571500" y="498574"/>
            <a:ext cx="1335029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01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8242027" y="476250"/>
            <a:ext cx="368573" cy="1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api.py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71500" y="763861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What is an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API?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71500" y="1390575"/>
            <a:ext cx="4211911" cy="1558156"/>
          </a:xfrm>
          <a:prstGeom prst="roundRect">
            <a:avLst>
              <a:gd fmla="val 5502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831488" y="1416763"/>
            <a:ext cx="3818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2100"/>
              <a:buFont typeface="Arial"/>
              <a:buNone/>
            </a:pPr>
            <a:r>
              <a:rPr b="0" i="1" lang="en" sz="21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Application Programming Interface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823913" y="2052563"/>
            <a:ext cx="3818298" cy="6818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 contract between two pieces of software. One side asks for something; the other side answers , in a format both have agreed 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71500" y="3120182"/>
            <a:ext cx="4338268" cy="6818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It hides the implementation. The caller doesn't need to know </a:t>
            </a:r>
            <a:r>
              <a:rPr b="0" i="1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how </a:t>
            </a:r>
            <a:r>
              <a:rPr b="0" i="0" lang="en" sz="12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the work gets done — only how to ask and what to expect back.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126311" y="2086868"/>
            <a:ext cx="3446189" cy="799133"/>
          </a:xfrm>
          <a:prstGeom prst="roundRect">
            <a:avLst>
              <a:gd fmla="val 9535" name="adj"/>
            </a:avLst>
          </a:prstGeom>
          <a:solidFill>
            <a:srgbClr val="161D26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5283473" y="2224981"/>
            <a:ext cx="322582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YOU ASK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5283473" y="2372618"/>
            <a:ext cx="32258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GET /users/42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283473" y="2601218"/>
            <a:ext cx="3225820" cy="165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 clear, agreed-upon request.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074618" y="3000301"/>
            <a:ext cx="35495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126311" y="3267001"/>
            <a:ext cx="3446189" cy="799133"/>
          </a:xfrm>
          <a:prstGeom prst="roundRect">
            <a:avLst>
              <a:gd fmla="val 9535" name="adj"/>
            </a:avLst>
          </a:prstGeom>
          <a:solidFill>
            <a:srgbClr val="161D26"/>
          </a:solidFill>
          <a:ln cap="flat" cmpd="sng" w="9525">
            <a:solidFill>
              <a:srgbClr val="05B3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05B3A4">
                <a:alpha val="14117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5283473" y="3405113"/>
            <a:ext cx="322582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IT ANSWERS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283473" y="3552750"/>
            <a:ext cx="32258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{ "id": 42, "name": "Ada"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283473" y="3781351"/>
            <a:ext cx="3225820" cy="165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 predictable, structured response.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61D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571500" y="476250"/>
            <a:ext cx="1709983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02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THE MENTAL MODEL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Client &amp;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571500" y="1326802"/>
            <a:ext cx="6867525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Every web API conversation has two roles, and they always talk in the same direction.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571500" y="2318817"/>
            <a:ext cx="3190875" cy="2181225"/>
          </a:xfrm>
          <a:prstGeom prst="roundRect">
            <a:avLst>
              <a:gd fmla="val 3930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785813" y="2552179"/>
            <a:ext cx="284511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785813" y="2761729"/>
            <a:ext cx="2845118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Initiates.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785813" y="3125539"/>
            <a:ext cx="2845118" cy="37802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Software that needs data or wants to trigger a change. Sends requests, waits for replies.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785813" y="4052367"/>
            <a:ext cx="27622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785813" y="4142854"/>
            <a:ext cx="284511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browser · mobile app · cURL · another 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824288" y="3071292"/>
            <a:ext cx="1495425" cy="285750"/>
          </a:xfrm>
          <a:prstGeom prst="roundRect">
            <a:avLst>
              <a:gd fmla="val 50000" name="adj"/>
            </a:avLst>
          </a:prstGeom>
          <a:solidFill>
            <a:srgbClr val="161D26"/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3930444" y="3152254"/>
            <a:ext cx="1283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→ 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824288" y="3461817"/>
            <a:ext cx="1495425" cy="285750"/>
          </a:xfrm>
          <a:prstGeom prst="roundRect">
            <a:avLst>
              <a:gd fmla="val 50000" name="adj"/>
            </a:avLst>
          </a:prstGeom>
          <a:solidFill>
            <a:srgbClr val="161D26"/>
          </a:solidFill>
          <a:ln cap="flat" cmpd="sng" w="9525">
            <a:solidFill>
              <a:srgbClr val="F5A52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3930444" y="3542779"/>
            <a:ext cx="12831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54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5B54F"/>
                </a:solidFill>
                <a:latin typeface="Arial"/>
                <a:ea typeface="Arial"/>
                <a:cs typeface="Arial"/>
                <a:sym typeface="Arial"/>
              </a:rPr>
              <a:t>← response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5381625" y="2318817"/>
            <a:ext cx="3190875" cy="2181225"/>
          </a:xfrm>
          <a:prstGeom prst="roundRect">
            <a:avLst>
              <a:gd fmla="val 3930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5595937" y="2552179"/>
            <a:ext cx="284511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595937" y="2761729"/>
            <a:ext cx="2845118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Responds.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595937" y="3125539"/>
            <a:ext cx="2845118" cy="55751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Software that owns the data and the rules. Listens for requests, runs the work, sends a reply.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5595938" y="4052367"/>
            <a:ext cx="27622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5595937" y="4142854"/>
            <a:ext cx="284511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FastAPI app · database-backed 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571500" y="476250"/>
            <a:ext cx="1028179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03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THE STYLE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What is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REST?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71500" y="1345852"/>
            <a:ext cx="3829050" cy="1779092"/>
          </a:xfrm>
          <a:prstGeom prst="roundRect">
            <a:avLst>
              <a:gd fmla="val 4818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823913" y="1372040"/>
            <a:ext cx="3423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2100"/>
              <a:buFont typeface="Arial"/>
              <a:buNone/>
            </a:pPr>
            <a:r>
              <a:rPr b="0" i="1" lang="en" sz="21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Representational State Transfer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831500" y="2153840"/>
            <a:ext cx="34239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An architectural style for designing networked APIs over HTTP. Not a framework, not a protocol — a set of conventions.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71500" y="3296394"/>
            <a:ext cx="3943922" cy="9027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REST treats your system as a collection of </a:t>
            </a:r>
            <a:r>
              <a:rPr b="0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resources </a:t>
            </a:r>
            <a:r>
              <a:rPr b="0" i="0" lang="en" sz="12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— users, orders, posts — each with a stable URL. You act on those resources using standard HTTP verbs.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743450" y="1847181"/>
            <a:ext cx="3943922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A resource lives at a URL: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743450" y="2153841"/>
            <a:ext cx="3829050" cy="1657722"/>
          </a:xfrm>
          <a:prstGeom prst="roundRect">
            <a:avLst>
              <a:gd fmla="val 3448" name="adj"/>
            </a:avLst>
          </a:prstGeom>
          <a:solidFill>
            <a:srgbClr val="0A0D12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4919663" y="2311003"/>
            <a:ext cx="3591496" cy="136244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// the resource </a:t>
            </a:r>
            <a:r>
              <a:rPr b="0" i="0" lang="en" sz="10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/users/42 </a:t>
            </a: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// the actions </a:t>
            </a:r>
            <a:r>
              <a:rPr b="0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  /users/42 </a:t>
            </a:r>
            <a:r>
              <a:rPr b="0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  /users/42 </a:t>
            </a:r>
            <a:r>
              <a:rPr b="0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/users/42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43450" y="3963963"/>
            <a:ext cx="3943922" cy="1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Same URL. Different verb. Different intent.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61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/>
        </p:nvSpPr>
        <p:spPr>
          <a:xfrm>
            <a:off x="571500" y="476250"/>
            <a:ext cx="1670357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04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THE CONVENTIONS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REST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Principles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571500" y="1326803"/>
            <a:ext cx="6867525" cy="2504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Five conventions that make a REST API recognizable and predictable.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571500" y="1824931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57213" y="182969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990600" y="1824931"/>
            <a:ext cx="35318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Resource-oriented URLs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990600" y="2044006"/>
            <a:ext cx="3531870" cy="1847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Nouns, not verbs. </a:t>
            </a:r>
            <a:r>
              <a:rPr b="0" i="0" lang="en" sz="9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/orders/17 </a:t>
            </a: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, not /getOrder?id=17.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4724400" y="1824931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4710113" y="182969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5143500" y="1824931"/>
            <a:ext cx="35318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Uniform 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143500" y="2044006"/>
            <a:ext cx="353187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 small, fixed set of HTTP verbs (GET, POST, PUT, PATCH, DELETE) for every resource.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2861221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557213" y="286598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990600" y="2861221"/>
            <a:ext cx="35318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Stateless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990600" y="3080296"/>
            <a:ext cx="353187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Each request carries everything the server needs. No session memory between calls.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724400" y="2861221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4710113" y="286598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143500" y="2861221"/>
            <a:ext cx="35318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Representations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143500" y="3080296"/>
            <a:ext cx="3531870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The server sends a representation of the resource — almost always JSON — not the resource itself.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71500" y="3897586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57213" y="3902348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990600" y="3897586"/>
            <a:ext cx="368884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Standard status codes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990600" y="4116661"/>
            <a:ext cx="3688842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The HTTP status tells the client what happened, before they even read the body.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/>
          <p:nvPr/>
        </p:nvSpPr>
        <p:spPr>
          <a:xfrm>
            <a:off x="571500" y="476250"/>
            <a:ext cx="1060922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05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THE VERBS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71500" y="1326803"/>
            <a:ext cx="6867525" cy="2504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Five verbs cover almost every operation a REST API exposes.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71500" y="2170212"/>
            <a:ext cx="11239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704850" y="1939231"/>
            <a:ext cx="8953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1695450" y="2170212"/>
            <a:ext cx="29146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1828800" y="1939231"/>
            <a:ext cx="2735390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610100" y="2170212"/>
            <a:ext cx="2552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4743450" y="1939231"/>
            <a:ext cx="23625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7162800" y="2170212"/>
            <a:ext cx="1409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7296150" y="1939231"/>
            <a:ext cx="11852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SAFE?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71500" y="2678237"/>
            <a:ext cx="11239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704850" y="2302743"/>
            <a:ext cx="418728" cy="252413"/>
          </a:xfrm>
          <a:prstGeom prst="roundRect">
            <a:avLst>
              <a:gd fmla="val 15094" name="adj"/>
            </a:avLst>
          </a:prstGeom>
          <a:solidFill>
            <a:srgbClr val="5EA2FF">
              <a:alpha val="14117"/>
            </a:srgbClr>
          </a:solidFill>
          <a:ln cap="flat" cmpd="sng" w="9525">
            <a:solidFill>
              <a:srgbClr val="5EA2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795337" y="2345606"/>
            <a:ext cx="27585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B2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1695450" y="2678237"/>
            <a:ext cx="29146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1828800" y="2289274"/>
            <a:ext cx="2735390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Read a resource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610100" y="2678237"/>
            <a:ext cx="2552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743450" y="2289274"/>
            <a:ext cx="2362581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GET /users/42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162800" y="2678237"/>
            <a:ext cx="1409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7296150" y="2289274"/>
            <a:ext cx="1185291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Yes · idempotent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71500" y="3231059"/>
            <a:ext cx="11239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704850" y="2833167"/>
            <a:ext cx="497979" cy="252413"/>
          </a:xfrm>
          <a:prstGeom prst="roundRect">
            <a:avLst>
              <a:gd fmla="val 15094" name="adj"/>
            </a:avLst>
          </a:prstGeom>
          <a:solidFill>
            <a:srgbClr val="6EE7B7">
              <a:alpha val="12156"/>
            </a:srgbClr>
          </a:solidFill>
          <a:ln cap="flat" cmpd="sng" w="9525">
            <a:solidFill>
              <a:srgbClr val="6EE7B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795338" y="2876029"/>
            <a:ext cx="35510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1695450" y="3231059"/>
            <a:ext cx="29146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1828800" y="2797299"/>
            <a:ext cx="2735390" cy="33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Create a new resource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610100" y="3231059"/>
            <a:ext cx="2552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4743450" y="2797299"/>
            <a:ext cx="2362581" cy="33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POST /users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162800" y="3231059"/>
            <a:ext cx="1409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7296150" y="2797299"/>
            <a:ext cx="1185291" cy="338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No · not idempotent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3739084"/>
            <a:ext cx="11239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704850" y="3363590"/>
            <a:ext cx="418728" cy="252413"/>
          </a:xfrm>
          <a:prstGeom prst="roundRect">
            <a:avLst>
              <a:gd fmla="val 15094" name="adj"/>
            </a:avLst>
          </a:prstGeom>
          <a:solidFill>
            <a:srgbClr val="F5A524">
              <a:alpha val="14117"/>
            </a:srgbClr>
          </a:solidFill>
          <a:ln cap="flat" cmpd="sng" w="9525">
            <a:solidFill>
              <a:srgbClr val="F5A52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795337" y="3406453"/>
            <a:ext cx="27585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54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5B54F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695450" y="3739084"/>
            <a:ext cx="29146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828800" y="3350121"/>
            <a:ext cx="2735390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Replace a resource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610100" y="3739084"/>
            <a:ext cx="2552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743450" y="3350121"/>
            <a:ext cx="2362581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PUT /users/42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162800" y="3739084"/>
            <a:ext cx="1409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7296150" y="3350121"/>
            <a:ext cx="1185291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No · idempotent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1500" y="4247108"/>
            <a:ext cx="11239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704850" y="3871615"/>
            <a:ext cx="577230" cy="252413"/>
          </a:xfrm>
          <a:prstGeom prst="roundRect">
            <a:avLst>
              <a:gd fmla="val 15094" name="adj"/>
            </a:avLst>
          </a:prstGeom>
          <a:solidFill>
            <a:srgbClr val="D982F4">
              <a:alpha val="14117"/>
            </a:srgbClr>
          </a:solidFill>
          <a:ln cap="flat" cmpd="sng" w="9525">
            <a:solidFill>
              <a:srgbClr val="D982F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795338" y="3914478"/>
            <a:ext cx="43435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CF5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PATCH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695450" y="4247108"/>
            <a:ext cx="29146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1828800" y="3858146"/>
            <a:ext cx="2735390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Partially update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10100" y="4247108"/>
            <a:ext cx="2552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4743450" y="3858146"/>
            <a:ext cx="2362581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PATCH /users/42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162800" y="4247108"/>
            <a:ext cx="1409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7296150" y="3858146"/>
            <a:ext cx="1185291" cy="29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No · idempotent*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71500" y="4755357"/>
            <a:ext cx="11239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704850" y="4379789"/>
            <a:ext cx="656481" cy="252413"/>
          </a:xfrm>
          <a:prstGeom prst="roundRect">
            <a:avLst>
              <a:gd fmla="val 15094" name="adj"/>
            </a:avLst>
          </a:prstGeom>
          <a:solidFill>
            <a:srgbClr val="EF5B5B">
              <a:alpha val="14117"/>
            </a:srgbClr>
          </a:solidFill>
          <a:ln cap="flat" cmpd="sng" w="9525">
            <a:solidFill>
              <a:srgbClr val="EF5B5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95338" y="4422651"/>
            <a:ext cx="51360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7E7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F7E7E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695450" y="4755357"/>
            <a:ext cx="291465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1828800" y="4366171"/>
            <a:ext cx="2735390" cy="293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Remove a resource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610100" y="4755357"/>
            <a:ext cx="2552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4743450" y="4366171"/>
            <a:ext cx="2362581" cy="293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DELETE /users/42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162800" y="4755357"/>
            <a:ext cx="14097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7296150" y="4366171"/>
            <a:ext cx="1185291" cy="293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No · idempotent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61D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571500" y="476250"/>
            <a:ext cx="1763099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06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THE REPLY CHANNEL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Status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Codes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71500" y="1326803"/>
            <a:ext cx="6867525" cy="2504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 three-digit number that tells the client what happened — by family.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71500" y="1824930"/>
            <a:ext cx="1508745" cy="2937570"/>
          </a:xfrm>
          <a:prstGeom prst="roundRect">
            <a:avLst>
              <a:gd fmla="val 4419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709613" y="1982093"/>
            <a:ext cx="1270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3500"/>
              <a:buFont typeface="Arial"/>
              <a:buNone/>
            </a:pPr>
            <a:r>
              <a:rPr b="0" i="0" lang="en" sz="35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1xx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709613" y="2505968"/>
            <a:ext cx="12706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Informational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709613" y="2758381"/>
            <a:ext cx="12706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Rare in app code. Hop-by-hop signals.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2194545" y="1824930"/>
            <a:ext cx="1508745" cy="2937570"/>
          </a:xfrm>
          <a:prstGeom prst="roundRect">
            <a:avLst>
              <a:gd fmla="val 4419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2332658" y="1982093"/>
            <a:ext cx="1270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3500"/>
              <a:buFont typeface="Arial"/>
              <a:buNone/>
            </a:pPr>
            <a:r>
              <a:rPr b="0" i="0" lang="en" sz="35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2xx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2332658" y="2505968"/>
            <a:ext cx="12706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Success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332658" y="2758381"/>
            <a:ext cx="127062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200 OK 201 Created 204 No Content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817590" y="1824930"/>
            <a:ext cx="1508745" cy="2937570"/>
          </a:xfrm>
          <a:prstGeom prst="roundRect">
            <a:avLst>
              <a:gd fmla="val 4419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3955702" y="1982093"/>
            <a:ext cx="1270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B2FF"/>
              </a:buClr>
              <a:buSzPts val="3500"/>
              <a:buFont typeface="Arial"/>
              <a:buNone/>
            </a:pPr>
            <a:r>
              <a:rPr b="0" i="0" lang="en" sz="35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3xx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955702" y="2505968"/>
            <a:ext cx="12706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Redirection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3955702" y="2758381"/>
            <a:ext cx="12706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301 Moved 304 Not Modified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440636" y="1824930"/>
            <a:ext cx="1508745" cy="2937570"/>
          </a:xfrm>
          <a:prstGeom prst="roundRect">
            <a:avLst>
              <a:gd fmla="val 4419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5578748" y="1982093"/>
            <a:ext cx="1270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B54F"/>
              </a:buClr>
              <a:buSzPts val="3500"/>
              <a:buFont typeface="Arial"/>
              <a:buNone/>
            </a:pPr>
            <a:r>
              <a:rPr b="0" i="0" lang="en" sz="3500" u="none" cap="none" strike="noStrike">
                <a:solidFill>
                  <a:srgbClr val="F5B54F"/>
                </a:solidFill>
                <a:latin typeface="Arial"/>
                <a:ea typeface="Arial"/>
                <a:cs typeface="Arial"/>
                <a:sym typeface="Arial"/>
              </a:rPr>
              <a:t>4xx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5578748" y="2505968"/>
            <a:ext cx="12706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Client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578748" y="2758381"/>
            <a:ext cx="127062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400 Bad Request 401 Unauthorized 404 Not Found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7063680" y="1824930"/>
            <a:ext cx="1508745" cy="2937570"/>
          </a:xfrm>
          <a:prstGeom prst="roundRect">
            <a:avLst>
              <a:gd fmla="val 4419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7201793" y="1982093"/>
            <a:ext cx="1270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7E7E"/>
              </a:buClr>
              <a:buSzPts val="3500"/>
              <a:buFont typeface="Arial"/>
              <a:buNone/>
            </a:pPr>
            <a:r>
              <a:rPr b="0" i="0" lang="en" sz="3500" u="none" cap="none" strike="noStrike">
                <a:solidFill>
                  <a:srgbClr val="EF7E7E"/>
                </a:solidFill>
                <a:latin typeface="Arial"/>
                <a:ea typeface="Arial"/>
                <a:cs typeface="Arial"/>
                <a:sym typeface="Arial"/>
              </a:rPr>
              <a:t>5xx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7201793" y="2505968"/>
            <a:ext cx="12706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Server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7201793" y="2758381"/>
            <a:ext cx="127062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500 Internal 502 Bad Gateway 503 Unavailable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/>
          <p:nvPr/>
        </p:nvSpPr>
        <p:spPr>
          <a:xfrm>
            <a:off x="571500" y="476250"/>
            <a:ext cx="1255217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07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THE PAYLOAD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2700"/>
              <a:buFont typeface="Arial"/>
              <a:buNone/>
            </a:pP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JSON: </a:t>
            </a: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the common language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" y="1326803"/>
            <a:ext cx="6867525" cy="2504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REST is verb-and-URL. JSON is what travels in the body — both ways.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42950" y="2402830"/>
            <a:ext cx="3767328" cy="2056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Human-readable.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42950" y="2608511"/>
            <a:ext cx="3767328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Plain text. You can read it without tools.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742950" y="2873276"/>
            <a:ext cx="3767328" cy="2056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Language-agnostic.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42950" y="3078957"/>
            <a:ext cx="3767328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Every modern language has a parser built 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742950" y="3343721"/>
            <a:ext cx="3767328" cy="2056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Structured.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742950" y="3549402"/>
            <a:ext cx="3767328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Nested objects, arrays, primitives — enough for most domains.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742950" y="3814167"/>
            <a:ext cx="3767328" cy="21044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Sent as application/json.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742950" y="4024610"/>
            <a:ext cx="3767328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The Content-Type header tells the receiver how to parse.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4743450" y="2143423"/>
            <a:ext cx="3943922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A typical response body: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4743450" y="2402458"/>
            <a:ext cx="3829050" cy="2041550"/>
          </a:xfrm>
          <a:prstGeom prst="roundRect">
            <a:avLst>
              <a:gd fmla="val 2799" name="adj"/>
            </a:avLst>
          </a:prstGeom>
          <a:solidFill>
            <a:srgbClr val="0A0D12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4919663" y="2559621"/>
            <a:ext cx="3591496" cy="17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D99CF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" sz="10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"id"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" sz="1000" u="none" cap="none" strike="noStrike">
                <a:solidFill>
                  <a:srgbClr val="F5B54F"/>
                </a:solidFill>
                <a:latin typeface="Arial"/>
                <a:ea typeface="Arial"/>
                <a:cs typeface="Arial"/>
                <a:sym typeface="Arial"/>
              </a:rPr>
              <a:t>42 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7AB2FF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"name"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" sz="10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"Ada Lovelace" 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7AB2FF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"active"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" sz="1000" u="none" cap="none" strike="noStrike">
                <a:solidFill>
                  <a:srgbClr val="F5B54F"/>
                </a:solidFill>
                <a:latin typeface="Arial"/>
                <a:ea typeface="Arial"/>
                <a:cs typeface="Arial"/>
                <a:sym typeface="Arial"/>
              </a:rPr>
              <a:t>true 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7AB2FF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"roles"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" sz="10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"admin"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0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"author"</a:t>
            </a:r>
            <a:r>
              <a:rPr b="0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7AB2FF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"profile"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" sz="1000" u="none" cap="none" strike="noStrike">
                <a:solidFill>
                  <a:srgbClr val="7AB2FF"/>
                </a:solidFill>
                <a:latin typeface="Arial"/>
                <a:ea typeface="Arial"/>
                <a:cs typeface="Arial"/>
                <a:sym typeface="Arial"/>
              </a:rPr>
              <a:t>"city"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" sz="10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"London" </a:t>
            </a:r>
            <a:r>
              <a:rPr b="0" i="0" lang="en" sz="1000" u="none" cap="none" strike="noStrike">
                <a:solidFill>
                  <a:srgbClr val="EEF2F6"/>
                </a:solidFill>
                <a:highlight>
                  <a:srgbClr val="0A0D12"/>
                </a:highlight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" sz="1000" u="none" cap="none" strike="noStrike">
                <a:solidFill>
                  <a:srgbClr val="D99CF5"/>
                </a:solidFill>
                <a:latin typeface="Arial"/>
                <a:ea typeface="Arial"/>
                <a:cs typeface="Arial"/>
                <a:sym typeface="Arial"/>
              </a:rPr>
              <a:t>}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61D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/>
          <p:nvPr/>
        </p:nvSpPr>
        <p:spPr>
          <a:xfrm>
            <a:off x="571500" y="476250"/>
            <a:ext cx="962397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08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Other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API styles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571500" y="1326803"/>
            <a:ext cx="6867525" cy="2504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REST is dominant, not exclusive. A quick orientation.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571500" y="1824931"/>
            <a:ext cx="2565351" cy="1445717"/>
          </a:xfrm>
          <a:prstGeom prst="roundRect">
            <a:avLst>
              <a:gd fmla="val 5271" name="adj"/>
            </a:avLst>
          </a:prstGeom>
          <a:solidFill>
            <a:srgbClr val="05B3A4">
              <a:alpha val="7843"/>
            </a:srgbClr>
          </a:solidFill>
          <a:ln cap="flat" cmpd="sng" w="9525">
            <a:solidFill>
              <a:srgbClr val="05B3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747713" y="2001143"/>
            <a:ext cx="22793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MOST COMMON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747713" y="2210693"/>
            <a:ext cx="227931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REST </a:t>
            </a: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over HTTP + 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747713" y="2486918"/>
            <a:ext cx="2279313" cy="62656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Resources at URLs, standard verbs, status codes. Easy to cache, easy to debug, easy to learn.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3289250" y="1824931"/>
            <a:ext cx="2565425" cy="1445717"/>
          </a:xfrm>
          <a:prstGeom prst="roundRect">
            <a:avLst>
              <a:gd fmla="val 5271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3465463" y="2001143"/>
            <a:ext cx="227939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QUERY-SHAPED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3465463" y="2210693"/>
            <a:ext cx="227939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GraphQL </a:t>
            </a: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POST /graphql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3465463" y="2486918"/>
            <a:ext cx="2279390" cy="62656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One endpoint. Clients describe exactly which fields they want; server returns that shape. Great for complex front-ends, more setup.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6007075" y="1824931"/>
            <a:ext cx="2565425" cy="1445717"/>
          </a:xfrm>
          <a:prstGeom prst="roundRect">
            <a:avLst>
              <a:gd fmla="val 5271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6183288" y="2001143"/>
            <a:ext cx="227939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ACTION-SHAPED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6183288" y="2210693"/>
            <a:ext cx="227939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RPC </a:t>
            </a: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gRPC, JSON-RPC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6183288" y="2486918"/>
            <a:ext cx="2279390" cy="62656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You call functions, not resources. Strict schemas, fast binary formats. Common between internal services.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571500" y="3423047"/>
            <a:ext cx="2565351" cy="1445717"/>
          </a:xfrm>
          <a:prstGeom prst="roundRect">
            <a:avLst>
              <a:gd fmla="val 5271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747713" y="3599260"/>
            <a:ext cx="227931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747713" y="3808810"/>
            <a:ext cx="227931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WebSockets </a:t>
            </a: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ws://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747713" y="4085035"/>
            <a:ext cx="2279313" cy="62656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Long-lived two-way connection. For chat, live updates, multiplayer — anywhere request/response is too slow.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3289250" y="3423047"/>
            <a:ext cx="2565425" cy="1445717"/>
          </a:xfrm>
          <a:prstGeom prst="roundRect">
            <a:avLst>
              <a:gd fmla="val 5271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3465463" y="3599260"/>
            <a:ext cx="227939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SERVER PUSH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3465463" y="3808810"/>
            <a:ext cx="227939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SSE </a:t>
            </a: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text/event-stream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3465463" y="4085035"/>
            <a:ext cx="2279390" cy="62656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Server streams events to client over plain HTTP. Simpler than WebSockets when only one direction is needed.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6007075" y="3423047"/>
            <a:ext cx="2565425" cy="1445717"/>
          </a:xfrm>
          <a:prstGeom prst="roundRect">
            <a:avLst>
              <a:gd fmla="val 5271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6183288" y="3599260"/>
            <a:ext cx="227939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ASYNC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6183288" y="3808810"/>
            <a:ext cx="227939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Webhooks </a:t>
            </a: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POST callback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6183288" y="4085035"/>
            <a:ext cx="2279390" cy="62656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Inverted: the server calls </a:t>
            </a:r>
            <a:r>
              <a:rPr b="0" i="0" lang="en" sz="8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you </a:t>
            </a: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when something happens. Used for events, integrations, payments.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/>
          <p:nvPr/>
        </p:nvSpPr>
        <p:spPr>
          <a:xfrm>
            <a:off x="571500" y="476250"/>
            <a:ext cx="1067172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09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THE STACK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FastAPI </a:t>
            </a: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fits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71500" y="1326802"/>
            <a:ext cx="6867525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REST and HTTP are the rules. FastAPI is the tool you use to play by them — in Python.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571500" y="2056358"/>
            <a:ext cx="8001000" cy="423863"/>
          </a:xfrm>
          <a:prstGeom prst="roundRect">
            <a:avLst>
              <a:gd fmla="val 13483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747713" y="2213521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1947863" y="2184946"/>
            <a:ext cx="518927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Whoever is calling your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7138392" y="2206377"/>
            <a:ext cx="129599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browser, mobile app, cURL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571500" y="2546896"/>
            <a:ext cx="8001000" cy="423863"/>
          </a:xfrm>
          <a:prstGeom prst="roundRect">
            <a:avLst>
              <a:gd fmla="val 13483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747713" y="2704058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PROTOCOL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1947863" y="2675483"/>
            <a:ext cx="48173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HTTP · the transport &amp; verb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6777335" y="2696915"/>
            <a:ext cx="166752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GET, POST, status codes, headers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571500" y="3037433"/>
            <a:ext cx="8001000" cy="423863"/>
          </a:xfrm>
          <a:prstGeom prst="roundRect">
            <a:avLst>
              <a:gd fmla="val 13483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747713" y="3194596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1947863" y="3166021"/>
            <a:ext cx="533344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REST · the design conventions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7278365" y="3187452"/>
            <a:ext cx="115602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resources, URLs, JSON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571500" y="3527971"/>
            <a:ext cx="8001000" cy="423863"/>
          </a:xfrm>
          <a:prstGeom prst="roundRect">
            <a:avLst>
              <a:gd fmla="val 13483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"/>
          <p:cNvSpPr/>
          <p:nvPr/>
        </p:nvSpPr>
        <p:spPr>
          <a:xfrm>
            <a:off x="747713" y="3685133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1947863" y="3656558"/>
            <a:ext cx="529382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FastAPI · turns Python functions into endpoints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7239893" y="3677989"/>
            <a:ext cx="119449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@app.get, @app.post …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571500" y="4018508"/>
            <a:ext cx="8001000" cy="423863"/>
          </a:xfrm>
          <a:prstGeom prst="roundRect">
            <a:avLst>
              <a:gd fmla="val 13483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5"/>
          <p:cNvSpPr/>
          <p:nvPr/>
        </p:nvSpPr>
        <p:spPr>
          <a:xfrm>
            <a:off x="747713" y="4175671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1947863" y="4147096"/>
            <a:ext cx="559711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ASGI server · runs your app, handles connections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7534350" y="4168527"/>
            <a:ext cx="90003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uvicorn, hypercorn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571500" y="4509046"/>
            <a:ext cx="8001000" cy="423863"/>
          </a:xfrm>
          <a:prstGeom prst="roundRect">
            <a:avLst>
              <a:gd fmla="val 13483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747713" y="4666208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YOUR CODE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1947863" y="4637633"/>
            <a:ext cx="521939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Business logic, database,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7167637" y="4659065"/>
            <a:ext cx="126675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Python · SQLAlchemy · …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61D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/>
          <p:cNvSpPr/>
          <p:nvPr/>
        </p:nvSpPr>
        <p:spPr>
          <a:xfrm>
            <a:off x="571500" y="476250"/>
            <a:ext cx="1057201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THE VALUE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Why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FastAPI?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571500" y="1326803"/>
            <a:ext cx="6867525" cy="2504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It does the boring parts of building a REST API for you, well, by default.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571500" y="1824931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557213" y="182969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990600" y="1824931"/>
            <a:ext cx="35514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Type hints become the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990600" y="2044006"/>
            <a:ext cx="3551492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 function's parameter types and return type define the request shape, the response shape, and the validation rules.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4705350" y="1824931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4691063" y="182969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5124450" y="1824931"/>
            <a:ext cx="35514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Validation, 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5124450" y="2044006"/>
            <a:ext cx="3551492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Pydantic checks every incoming payload against your types. Bad input gets a clean 422 — your handler never sees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571500" y="2854896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557213" y="2859658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990600" y="2854896"/>
            <a:ext cx="35514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Async by default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990600" y="3073971"/>
            <a:ext cx="3551492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Built on ASGI. Use </a:t>
            </a:r>
            <a:r>
              <a:rPr b="0" i="0" lang="en" sz="9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async def </a:t>
            </a: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handlers when you want concurrency for I/O.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4705350" y="2854896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4691063" y="2859658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📖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5124450" y="2854896"/>
            <a:ext cx="35514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Auto 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5124450" y="3073971"/>
            <a:ext cx="3551492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Interactive Swagger UI and ReDoc generated from your code, kept in sync automatically.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571500" y="3884861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557213" y="388962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990600" y="3884861"/>
            <a:ext cx="35514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Fast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990600" y="4103936"/>
            <a:ext cx="3551492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Among the fastest Python web frameworks — performance close to Node and Go for typical I/O workloads.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4705350" y="3884861"/>
            <a:ext cx="276225" cy="276225"/>
          </a:xfrm>
          <a:prstGeom prst="roundRect">
            <a:avLst>
              <a:gd fmla="val 2069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4691063" y="388962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5124450" y="3884861"/>
            <a:ext cx="35514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Dependency injection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5124450" y="4103936"/>
            <a:ext cx="3551492" cy="350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Auth, DB sessions, config — declared as function parameters and resolved by the framework.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8465939" y="4852988"/>
            <a:ext cx="144661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61D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/>
          <p:nvPr/>
        </p:nvSpPr>
        <p:spPr>
          <a:xfrm>
            <a:off x="476250" y="403324"/>
            <a:ext cx="1285578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11½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SEE IT MOVE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118274" y="381000"/>
            <a:ext cx="3655960" cy="1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Toggle Tweaks (top toolbar) to change the request &amp;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476250" y="668611"/>
            <a:ext cx="8437245" cy="2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b="0" i="1" lang="en" sz="21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↔ </a:t>
            </a:r>
            <a:r>
              <a:rPr b="1" i="0" lang="en" sz="2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FastAPI </a:t>
            </a:r>
            <a:r>
              <a:rPr b="0" i="1" lang="en" sz="21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↔ </a:t>
            </a:r>
            <a:r>
              <a:rPr b="1" i="0" lang="en" sz="21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476250" y="1139131"/>
            <a:ext cx="8191500" cy="3623370"/>
          </a:xfrm>
          <a:prstGeom prst="roundRect">
            <a:avLst>
              <a:gd fmla="val 2366" name="adj"/>
            </a:avLst>
          </a:prstGeom>
          <a:solidFill>
            <a:srgbClr val="0A0D12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8" y="1334393"/>
            <a:ext cx="7896225" cy="323284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7"/>
          <p:cNvSpPr/>
          <p:nvPr/>
        </p:nvSpPr>
        <p:spPr>
          <a:xfrm>
            <a:off x="8019008" y="1239143"/>
            <a:ext cx="548729" cy="190500"/>
          </a:xfrm>
          <a:prstGeom prst="roundRect">
            <a:avLst>
              <a:gd fmla="val 5000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8090446" y="1291531"/>
            <a:ext cx="405854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↻ REPLAY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7724775" y="3089523"/>
            <a:ext cx="1343025" cy="1977777"/>
          </a:xfrm>
          <a:prstGeom prst="roundRect">
            <a:avLst>
              <a:gd fmla="val 4965" name="adj"/>
            </a:avLst>
          </a:prstGeom>
          <a:solidFill>
            <a:srgbClr val="FAF9F7">
              <a:alpha val="78039"/>
            </a:srgbClr>
          </a:solidFill>
          <a:ln cap="flat" cmpd="sng" w="9525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rotWithShape="0" algn="bl" dir="5400000" dist="114300">
              <a:srgbClr val="000000">
                <a:alpha val="18039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7796213" y="3154263"/>
            <a:ext cx="228004" cy="990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Tweaks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8929688" y="3146673"/>
            <a:ext cx="857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7796213" y="3303836"/>
            <a:ext cx="123825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1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7796213" y="3418136"/>
            <a:ext cx="237307" cy="95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7796213" y="3518595"/>
            <a:ext cx="1200150" cy="123825"/>
          </a:xfrm>
          <a:prstGeom prst="roundRect">
            <a:avLst>
              <a:gd fmla="val 26923" name="adj"/>
            </a:avLst>
          </a:prstGeom>
          <a:solidFill>
            <a:srgbClr val="FFFFFF">
              <a:alpha val="60000"/>
            </a:srgbClr>
          </a:solidFill>
          <a:ln cap="flat" cmpd="sng" w="9525">
            <a:solidFill>
              <a:srgbClr val="00000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7796213" y="3690045"/>
            <a:ext cx="459879" cy="95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Animation speed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8858399" y="3690045"/>
            <a:ext cx="176063" cy="95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0.75×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7796213" y="3819079"/>
            <a:ext cx="1200150" cy="19050"/>
          </a:xfrm>
          <a:prstGeom prst="roundRect">
            <a:avLst>
              <a:gd fmla="val 50000" name="adj"/>
            </a:avLst>
          </a:prstGeom>
          <a:solidFill>
            <a:srgbClr val="000000">
              <a:alpha val="1215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7796213" y="3961954"/>
            <a:ext cx="123825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1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7796213" y="4080793"/>
            <a:ext cx="268040" cy="95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8843963" y="4076254"/>
            <a:ext cx="152400" cy="85725"/>
          </a:xfrm>
          <a:prstGeom prst="roundRect">
            <a:avLst>
              <a:gd fmla="val 50000" name="adj"/>
            </a:avLst>
          </a:prstGeom>
          <a:solidFill>
            <a:srgbClr val="34C75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8920163" y="4085779"/>
            <a:ext cx="66675" cy="6667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2509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7"/>
          <p:cNvSpPr/>
          <p:nvPr/>
        </p:nvSpPr>
        <p:spPr>
          <a:xfrm>
            <a:off x="7796213" y="4214143"/>
            <a:ext cx="283741" cy="95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Auth gate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8843963" y="4209604"/>
            <a:ext cx="152400" cy="85725"/>
          </a:xfrm>
          <a:prstGeom prst="roundRect">
            <a:avLst>
              <a:gd fmla="val 50000" name="adj"/>
            </a:avLst>
          </a:prstGeom>
          <a:solidFill>
            <a:srgbClr val="34C75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8920163" y="4219129"/>
            <a:ext cx="66675" cy="6667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2509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"/>
          <p:cNvSpPr/>
          <p:nvPr/>
        </p:nvSpPr>
        <p:spPr>
          <a:xfrm>
            <a:off x="7796213" y="4347493"/>
            <a:ext cx="322213" cy="95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Cache layer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8843963" y="4342954"/>
            <a:ext cx="152400" cy="85725"/>
          </a:xfrm>
          <a:prstGeom prst="roundRect">
            <a:avLst>
              <a:gd fmla="val 50000" name="adj"/>
            </a:avLst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8853488" y="4352479"/>
            <a:ext cx="66675" cy="6667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2509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7796213" y="4480843"/>
            <a:ext cx="424755" cy="95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External service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8843963" y="4476304"/>
            <a:ext cx="152400" cy="85725"/>
          </a:xfrm>
          <a:prstGeom prst="roundRect">
            <a:avLst>
              <a:gd fmla="val 50000" name="adj"/>
            </a:avLst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8853488" y="4485829"/>
            <a:ext cx="66675" cy="6667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2509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7796213" y="4657279"/>
            <a:ext cx="123825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1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7796213" y="4771579"/>
            <a:ext cx="193476" cy="95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Labels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7796213" y="4872038"/>
            <a:ext cx="1200150" cy="123825"/>
          </a:xfrm>
          <a:prstGeom prst="roundRect">
            <a:avLst>
              <a:gd fmla="val 30769" name="adj"/>
            </a:avLst>
          </a:prstGeom>
          <a:solidFill>
            <a:srgbClr val="000000">
              <a:alpha val="5882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7805738" y="4881563"/>
            <a:ext cx="590550" cy="104775"/>
          </a:xfrm>
          <a:prstGeom prst="roundRect">
            <a:avLst>
              <a:gd fmla="val 27273" name="adj"/>
            </a:avLst>
          </a:prstGeom>
          <a:solidFill>
            <a:srgbClr val="FFFFFF">
              <a:alpha val="90196"/>
            </a:srgbClr>
          </a:solidFill>
          <a:ln>
            <a:noFill/>
          </a:ln>
          <a:effectLst>
            <a:outerShdw blurRad="19050" rotWithShape="0" algn="bl" dir="5400000" dist="9525">
              <a:srgbClr val="000000">
                <a:alpha val="1215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7815263" y="4900613"/>
            <a:ext cx="57150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verbose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7"/>
          <p:cNvSpPr/>
          <p:nvPr/>
        </p:nvSpPr>
        <p:spPr>
          <a:xfrm>
            <a:off x="8405813" y="4900613"/>
            <a:ext cx="571500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29261B"/>
                </a:solidFill>
                <a:latin typeface="Arial"/>
                <a:ea typeface="Arial"/>
                <a:cs typeface="Arial"/>
                <a:sym typeface="Arial"/>
              </a:rPr>
              <a:t>minimal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7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8"/>
          <p:cNvSpPr/>
          <p:nvPr/>
        </p:nvSpPr>
        <p:spPr>
          <a:xfrm>
            <a:off x="571500" y="476250"/>
            <a:ext cx="1160041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11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END TO 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 request,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end to end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571500" y="1326803"/>
            <a:ext cx="6867525" cy="2504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What happens between </a:t>
            </a:r>
            <a:r>
              <a:rPr b="0" i="0" lang="en" sz="14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GET /users/42 </a:t>
            </a:r>
            <a:r>
              <a:rPr b="0" i="0" lang="en" sz="14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and the JSON that comes back.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8"/>
          <p:cNvSpPr/>
          <p:nvPr/>
        </p:nvSpPr>
        <p:spPr>
          <a:xfrm>
            <a:off x="571500" y="1863031"/>
            <a:ext cx="1531590" cy="1243013"/>
          </a:xfrm>
          <a:prstGeom prst="roundRect">
            <a:avLst>
              <a:gd fmla="val 5364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8"/>
          <p:cNvSpPr/>
          <p:nvPr/>
        </p:nvSpPr>
        <p:spPr>
          <a:xfrm>
            <a:off x="690563" y="2001143"/>
            <a:ext cx="13322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01 · 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690563" y="2191643"/>
            <a:ext cx="1332269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Sends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8"/>
          <p:cNvSpPr/>
          <p:nvPr/>
        </p:nvSpPr>
        <p:spPr>
          <a:xfrm>
            <a:off x="690563" y="2415481"/>
            <a:ext cx="133226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Method, URL, headers, optional body. Travels over HTTP.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2188815" y="1863031"/>
            <a:ext cx="1531590" cy="1243013"/>
          </a:xfrm>
          <a:prstGeom prst="roundRect">
            <a:avLst>
              <a:gd fmla="val 5364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8"/>
          <p:cNvSpPr/>
          <p:nvPr/>
        </p:nvSpPr>
        <p:spPr>
          <a:xfrm>
            <a:off x="2307878" y="2001143"/>
            <a:ext cx="13322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02 · ASGI 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2307878" y="2191643"/>
            <a:ext cx="1332269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Accepts &amp; parses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8"/>
          <p:cNvSpPr/>
          <p:nvPr/>
        </p:nvSpPr>
        <p:spPr>
          <a:xfrm>
            <a:off x="2307878" y="2415481"/>
            <a:ext cx="133226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Uvicorn handles the socket and hands a structured request to FastAPI.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3806131" y="1863031"/>
            <a:ext cx="1531665" cy="1243013"/>
          </a:xfrm>
          <a:prstGeom prst="roundRect">
            <a:avLst>
              <a:gd fmla="val 5364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8"/>
          <p:cNvSpPr/>
          <p:nvPr/>
        </p:nvSpPr>
        <p:spPr>
          <a:xfrm>
            <a:off x="3925193" y="2001143"/>
            <a:ext cx="133234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03 ·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3925193" y="2191643"/>
            <a:ext cx="1332346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Routes &amp; validates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3925193" y="2415481"/>
            <a:ext cx="1332346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Matches URL to a handler. Pydantic validates inputs against your type hints.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5423520" y="1863031"/>
            <a:ext cx="1531590" cy="1243013"/>
          </a:xfrm>
          <a:prstGeom prst="roundRect">
            <a:avLst>
              <a:gd fmla="val 5364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8"/>
          <p:cNvSpPr/>
          <p:nvPr/>
        </p:nvSpPr>
        <p:spPr>
          <a:xfrm>
            <a:off x="5542583" y="2001143"/>
            <a:ext cx="13322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04 · Your code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5542583" y="2191643"/>
            <a:ext cx="1332269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Runs the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5542583" y="2415481"/>
            <a:ext cx="133226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Query the DB, call services, build the result object.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7040835" y="1863031"/>
            <a:ext cx="1531665" cy="1243013"/>
          </a:xfrm>
          <a:prstGeom prst="roundRect">
            <a:avLst>
              <a:gd fmla="val 5364" name="adj"/>
            </a:avLst>
          </a:prstGeom>
          <a:solidFill>
            <a:srgbClr val="11161D"/>
          </a:solidFill>
          <a:ln cap="flat" cmpd="sng" w="9525">
            <a:solidFill>
              <a:srgbClr val="1F2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>
            <a:off x="7159898" y="2001143"/>
            <a:ext cx="133234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05 ·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7159898" y="2191643"/>
            <a:ext cx="1332346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Serializes &amp; sends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7159898" y="2415481"/>
            <a:ext cx="133234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Result becomes JSON, with the right status code and headers. Back to the client.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571500" y="3372743"/>
            <a:ext cx="1337147" cy="233363"/>
          </a:xfrm>
          <a:prstGeom prst="roundRect">
            <a:avLst>
              <a:gd fmla="val 50000" name="adj"/>
            </a:avLst>
          </a:prstGeom>
          <a:solidFill>
            <a:srgbClr val="05B3A4">
              <a:alpha val="14117"/>
            </a:srgbClr>
          </a:solidFill>
          <a:ln cap="flat" cmpd="sng" w="9525">
            <a:solidFill>
              <a:srgbClr val="05B3A4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8"/>
          <p:cNvSpPr/>
          <p:nvPr/>
        </p:nvSpPr>
        <p:spPr>
          <a:xfrm>
            <a:off x="681038" y="3425131"/>
            <a:ext cx="1158186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D9C8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YOU WRITE STEP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2022946" y="3402732"/>
            <a:ext cx="3665465" cy="1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FastAPI handles steps 2, 3, and 5. You almost never touch them.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571500" y="4883944"/>
            <a:ext cx="47625" cy="47625"/>
          </a:xfrm>
          <a:prstGeom prst="ellipse">
            <a:avLst/>
          </a:prstGeom>
          <a:solidFill>
            <a:srgbClr val="05B3A4"/>
          </a:solidFill>
          <a:ln>
            <a:noFill/>
          </a:ln>
          <a:effectLst>
            <a:outerShdw blurRad="133350" rotWithShape="0" algn="bl" dir="16200000" dist="50800">
              <a:srgbClr val="05B3A4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685800" y="4852988"/>
            <a:ext cx="104045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REST APIs &amp; FastAPI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8458870" y="4852988"/>
            <a:ext cx="15173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C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9"/>
          <p:cNvSpPr/>
          <p:nvPr/>
        </p:nvSpPr>
        <p:spPr>
          <a:xfrm>
            <a:off x="571500" y="476250"/>
            <a:ext cx="764902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12 </a:t>
            </a:r>
            <a:r>
              <a:rPr b="0" i="0" lang="en" sz="8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9"/>
          <p:cNvSpPr/>
          <p:nvPr/>
        </p:nvSpPr>
        <p:spPr>
          <a:xfrm>
            <a:off x="571500" y="719138"/>
            <a:ext cx="82410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Three things </a:t>
            </a:r>
            <a:r>
              <a:rPr b="0" i="1" lang="en" sz="2700" u="none" cap="none" strike="noStrike">
                <a:solidFill>
                  <a:srgbClr val="2CD9C8"/>
                </a:solidFill>
                <a:latin typeface="Arial"/>
                <a:ea typeface="Arial"/>
                <a:cs typeface="Arial"/>
                <a:sym typeface="Arial"/>
              </a:rPr>
              <a:t>to keep.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571500" y="1364902"/>
            <a:ext cx="514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B3A4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5B3A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1162050" y="1464915"/>
            <a:ext cx="763276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An API is a contract.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1162050" y="1716361"/>
            <a:ext cx="7632764" cy="2056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Predictable requests, predictable responses, hidden implementation.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571500" y="2074441"/>
            <a:ext cx="514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B3A4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5B3A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1162050" y="2174453"/>
            <a:ext cx="763276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REST is the dominant style for web APIs.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1162050" y="2425899"/>
            <a:ext cx="7632764" cy="20568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Resources at URLs · standard HTTP verbs · status codes · JSON bodies.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571500" y="2783979"/>
            <a:ext cx="514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B3A4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5B3A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9"/>
          <p:cNvSpPr/>
          <p:nvPr/>
        </p:nvSpPr>
        <p:spPr>
          <a:xfrm>
            <a:off x="1162050" y="2883992"/>
            <a:ext cx="763276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FastAPI is how Python developers ship REST.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1162050" y="3135437"/>
            <a:ext cx="7632764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Type hints become the schema, validation, and docs — so you write the logic, not the plumbing.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571500" y="3998640"/>
            <a:ext cx="8001000" cy="4763"/>
          </a:xfrm>
          <a:prstGeom prst="rect">
            <a:avLst/>
          </a:prstGeom>
          <a:solidFill>
            <a:srgbClr val="1F283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9"/>
          <p:cNvSpPr/>
          <p:nvPr/>
        </p:nvSpPr>
        <p:spPr>
          <a:xfrm>
            <a:off x="571500" y="4289152"/>
            <a:ext cx="2742105" cy="1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Up next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9"/>
          <p:cNvSpPr/>
          <p:nvPr/>
        </p:nvSpPr>
        <p:spPr>
          <a:xfrm>
            <a:off x="571500" y="4519613"/>
            <a:ext cx="2742105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6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EF2F6"/>
                </a:solidFill>
                <a:latin typeface="Arial"/>
                <a:ea typeface="Arial"/>
                <a:cs typeface="Arial"/>
                <a:sym typeface="Arial"/>
              </a:rPr>
              <a:t>Building your first endpoint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9"/>
          <p:cNvSpPr/>
          <p:nvPr/>
        </p:nvSpPr>
        <p:spPr>
          <a:xfrm>
            <a:off x="6855619" y="4572000"/>
            <a:ext cx="190500" cy="190500"/>
          </a:xfrm>
          <a:prstGeom prst="ellipse">
            <a:avLst/>
          </a:prstGeom>
          <a:noFill/>
          <a:ln cap="flat" cmpd="sng" w="19050">
            <a:solidFill>
              <a:srgbClr val="05B3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9"/>
          <p:cNvSpPr/>
          <p:nvPr/>
        </p:nvSpPr>
        <p:spPr>
          <a:xfrm>
            <a:off x="7131844" y="4600575"/>
            <a:ext cx="14838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8C2CC"/>
                </a:solidFill>
                <a:latin typeface="Arial"/>
                <a:ea typeface="Arial"/>
                <a:cs typeface="Arial"/>
                <a:sym typeface="Arial"/>
              </a:rPr>
              <a:t>END OF MODULE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